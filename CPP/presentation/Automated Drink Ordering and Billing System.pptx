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9" r:id="rId12"/>
    <p:sldId id="266" r:id="rId13"/>
    <p:sldId id="267" r:id="rId14"/>
  </p:sldIdLst>
  <p:sldSz cx="12192000" cy="6858000"/>
  <p:notesSz cx="6858000" cy="9144000"/>
  <p:embeddedFontLst>
    <p:embeddedFont>
      <p:font typeface="Merriweather" panose="020B0604020202020204" charset="0"/>
      <p:regular r:id="rId16"/>
      <p:bold r:id="rId17"/>
      <p:italic r:id="rId18"/>
      <p:boldItalic r:id="rId19"/>
    </p:embeddedFont>
    <p:embeddedFont>
      <p:font typeface="Calibri" panose="020F0502020204030204" pitchFamily="34" charset="0"/>
      <p:regular r:id="rId20"/>
      <p:bold r:id="rId21"/>
      <p:italic r:id="rId22"/>
      <p:boldItalic r:id="rId23"/>
    </p:embeddedFont>
    <p:embeddedFont>
      <p:font typeface="DM Sans" panose="020B060402020202020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6" d="100"/>
          <a:sy n="46" d="100"/>
        </p:scale>
        <p:origin x="318" y="4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27495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95275" y="2232541"/>
            <a:ext cx="11601450" cy="14287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dirty="0">
                <a:solidFill>
                  <a:srgbClr val="005088"/>
                </a:solidFill>
                <a:latin typeface="Merriweather"/>
                <a:ea typeface="Merriweather"/>
                <a:cs typeface="Merriweather"/>
                <a:sym typeface="Merriweather"/>
              </a:rPr>
              <a:t>Automated Drink Ordering and Billing System</a:t>
            </a:r>
            <a:endParaRPr dirty="0"/>
          </a:p>
        </p:txBody>
      </p:sp>
      <p:sp>
        <p:nvSpPr>
          <p:cNvPr id="86" name="Google Shape;86;p13"/>
          <p:cNvSpPr txBox="1"/>
          <p:nvPr/>
        </p:nvSpPr>
        <p:spPr>
          <a:xfrm>
            <a:off x="2333625" y="3829347"/>
            <a:ext cx="7524750" cy="369332"/>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00" b="0" i="0" u="none" strike="noStrike" cap="none" dirty="0">
                <a:solidFill>
                  <a:srgbClr val="005088"/>
                </a:solidFill>
                <a:latin typeface="DM Sans"/>
                <a:ea typeface="DM Sans"/>
                <a:cs typeface="DM Sans"/>
                <a:sym typeface="DM Sans"/>
              </a:rPr>
              <a:t>Complex Computing Project (CCP) | Programming Fundamentals CT-175</a:t>
            </a:r>
            <a:endParaRPr sz="1200" dirty="0"/>
          </a:p>
        </p:txBody>
      </p:sp>
      <p:sp>
        <p:nvSpPr>
          <p:cNvPr id="88" name="Google Shape;88;p13"/>
          <p:cNvSpPr txBox="1"/>
          <p:nvPr/>
        </p:nvSpPr>
        <p:spPr>
          <a:xfrm>
            <a:off x="2219325" y="4589364"/>
            <a:ext cx="7753350" cy="938975"/>
          </a:xfrm>
          <a:prstGeom prst="rect">
            <a:avLst/>
          </a:prstGeom>
          <a:noFill/>
          <a:ln>
            <a:noFill/>
          </a:ln>
        </p:spPr>
        <p:txBody>
          <a:bodyPr spcFirstLastPara="1" wrap="square" lIns="0" tIns="0" rIns="0" bIns="0" anchor="t" anchorCtr="0">
            <a:spAutoFit/>
          </a:bodyPr>
          <a:lstStyle/>
          <a:p>
            <a:pPr marL="0" marR="0" lvl="0" indent="0" algn="ctr" rtl="0">
              <a:lnSpc>
                <a:spcPct val="112500"/>
              </a:lnSpc>
              <a:spcBef>
                <a:spcPts val="0"/>
              </a:spcBef>
              <a:spcAft>
                <a:spcPts val="0"/>
              </a:spcAft>
              <a:buNone/>
            </a:pPr>
            <a:r>
              <a:rPr lang="en-US" sz="1350" b="1" i="0" u="none" strike="noStrike" cap="none" dirty="0">
                <a:solidFill>
                  <a:srgbClr val="1E293B"/>
                </a:solidFill>
                <a:latin typeface="DM Sans"/>
                <a:ea typeface="DM Sans"/>
                <a:cs typeface="DM Sans"/>
                <a:sym typeface="DM Sans"/>
              </a:rPr>
              <a:t>Group Members:</a:t>
            </a:r>
            <a:r>
              <a:rPr lang="en-US" sz="1350" b="0" i="0" u="none" strike="noStrike" cap="none" dirty="0">
                <a:solidFill>
                  <a:srgbClr val="1E293B"/>
                </a:solidFill>
                <a:latin typeface="DM Sans"/>
                <a:ea typeface="DM Sans"/>
                <a:cs typeface="DM Sans"/>
                <a:sym typeface="DM Sans"/>
              </a:rPr>
              <a:t> Laiba Qureshi (CT-25154) </a:t>
            </a:r>
          </a:p>
          <a:p>
            <a:pPr marL="0" marR="0" lvl="0" indent="0" algn="ctr" rtl="0">
              <a:lnSpc>
                <a:spcPct val="112500"/>
              </a:lnSpc>
              <a:spcBef>
                <a:spcPts val="0"/>
              </a:spcBef>
              <a:spcAft>
                <a:spcPts val="0"/>
              </a:spcAft>
              <a:buNone/>
            </a:pPr>
            <a:r>
              <a:rPr lang="en-US" sz="1350" b="0" i="0" u="none" strike="noStrike" cap="none" dirty="0">
                <a:solidFill>
                  <a:srgbClr val="1E293B"/>
                </a:solidFill>
                <a:latin typeface="DM Sans"/>
                <a:ea typeface="DM Sans"/>
                <a:cs typeface="DM Sans"/>
                <a:sym typeface="DM Sans"/>
              </a:rPr>
              <a:t>Fatima Nasir (CT-25155)</a:t>
            </a:r>
          </a:p>
          <a:p>
            <a:pPr marL="0" marR="0" lvl="0" indent="0" algn="ctr" rtl="0">
              <a:lnSpc>
                <a:spcPct val="112500"/>
              </a:lnSpc>
              <a:spcBef>
                <a:spcPts val="0"/>
              </a:spcBef>
              <a:spcAft>
                <a:spcPts val="0"/>
              </a:spcAft>
              <a:buNone/>
            </a:pPr>
            <a:r>
              <a:rPr lang="en-US" sz="1350" b="0" i="0" u="none" strike="noStrike" cap="none" dirty="0">
                <a:solidFill>
                  <a:srgbClr val="1E293B"/>
                </a:solidFill>
                <a:latin typeface="DM Sans"/>
                <a:ea typeface="DM Sans"/>
                <a:cs typeface="DM Sans"/>
                <a:sym typeface="DM Sans"/>
              </a:rPr>
              <a:t> Rateeba Ahmed (CT-25173)</a:t>
            </a:r>
            <a:r>
              <a:rPr lang="en-US" sz="1800" b="0" i="0" u="none" strike="noStrike" cap="none" dirty="0">
                <a:solidFill>
                  <a:schemeClr val="dk1"/>
                </a:solidFill>
                <a:latin typeface="Calibri"/>
                <a:ea typeface="Calibri"/>
                <a:cs typeface="Calibri"/>
                <a:sym typeface="Calibri"/>
              </a:rPr>
              <a:t/>
            </a:r>
            <a:br>
              <a:rPr lang="en-US" sz="1800" b="0" i="0" u="none" strike="noStrike" cap="none" dirty="0">
                <a:solidFill>
                  <a:schemeClr val="dk1"/>
                </a:solidFill>
                <a:latin typeface="Calibri"/>
                <a:ea typeface="Calibri"/>
                <a:cs typeface="Calibri"/>
                <a:sym typeface="Calibri"/>
              </a:rPr>
            </a:br>
            <a:r>
              <a:rPr lang="en-US" sz="1350" b="1" i="0" u="none" strike="noStrike" cap="none" dirty="0">
                <a:solidFill>
                  <a:srgbClr val="1E293B"/>
                </a:solidFill>
                <a:latin typeface="DM Sans"/>
                <a:ea typeface="DM Sans"/>
                <a:cs typeface="DM Sans"/>
                <a:sym typeface="DM Sans"/>
              </a:rPr>
              <a:t>Instructor:</a:t>
            </a:r>
            <a:r>
              <a:rPr lang="en-US" sz="1350" b="0" i="0" u="none" strike="noStrike" cap="none" dirty="0">
                <a:solidFill>
                  <a:srgbClr val="1E293B"/>
                </a:solidFill>
                <a:latin typeface="DM Sans"/>
                <a:ea typeface="DM Sans"/>
                <a:cs typeface="DM Sans"/>
                <a:sym typeface="DM Sans"/>
              </a:rPr>
              <a:t> Mr. Muhammad Abdullah</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92"/>
        <p:cNvGrpSpPr/>
        <p:nvPr/>
      </p:nvGrpSpPr>
      <p:grpSpPr>
        <a:xfrm>
          <a:off x="0" y="0"/>
          <a:ext cx="0" cy="0"/>
          <a:chOff x="0" y="0"/>
          <a:chExt cx="0" cy="0"/>
        </a:xfrm>
      </p:grpSpPr>
      <p:sp>
        <p:nvSpPr>
          <p:cNvPr id="93" name="Google Shape;93;p14"/>
          <p:cNvSpPr txBox="1"/>
          <p:nvPr/>
        </p:nvSpPr>
        <p:spPr>
          <a:xfrm>
            <a:off x="1504950" y="1743075"/>
            <a:ext cx="9182100" cy="3657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0" i="0" u="none" strike="noStrike" cap="none">
                <a:solidFill>
                  <a:srgbClr val="005088"/>
                </a:solidFill>
                <a:latin typeface="Merriweather"/>
                <a:ea typeface="Merriweather"/>
                <a:cs typeface="Merriweather"/>
                <a:sym typeface="Merriweather"/>
              </a:rPr>
              <a:t>This project... is a simple C program that simulates a café's ordering and billing process. It allows the user to select a drink, choose its size, and add an optional sweet item. The program uses arrays to store menu items and their corresponding prices, making it easier to manage... It also employs switch statements to handle user selections efficiently. The program calculates the total bill, including a 10% tax, and displays a clear order summary.</a:t>
            </a:r>
            <a:endParaRPr/>
          </a:p>
        </p:txBody>
      </p:sp>
      <p:sp>
        <p:nvSpPr>
          <p:cNvPr id="94" name="Google Shape;94;p14"/>
          <p:cNvSpPr txBox="1"/>
          <p:nvPr/>
        </p:nvSpPr>
        <p:spPr>
          <a:xfrm>
            <a:off x="1123950" y="5686425"/>
            <a:ext cx="9944100" cy="285750"/>
          </a:xfrm>
          <a:prstGeom prst="rect">
            <a:avLst/>
          </a:prstGeom>
          <a:noFill/>
          <a:ln>
            <a:noFill/>
          </a:ln>
        </p:spPr>
        <p:txBody>
          <a:bodyPr spcFirstLastPara="1" wrap="square" lIns="0" tIns="0" rIns="0" bIns="0" anchor="t" anchorCtr="0">
            <a:spAutoFit/>
          </a:bodyPr>
          <a:lstStyle/>
          <a:p>
            <a:pPr marL="0" marR="0" lvl="0" indent="0" algn="r" rtl="0">
              <a:lnSpc>
                <a:spcPct val="150000"/>
              </a:lnSpc>
              <a:spcBef>
                <a:spcPts val="0"/>
              </a:spcBef>
              <a:spcAft>
                <a:spcPts val="0"/>
              </a:spcAft>
              <a:buNone/>
            </a:pPr>
            <a:r>
              <a:rPr lang="en-US" sz="1500" b="1" i="0" u="none" strike="noStrike" cap="none">
                <a:solidFill>
                  <a:srgbClr val="1E293B"/>
                </a:solidFill>
                <a:latin typeface="DM Sans"/>
                <a:ea typeface="DM Sans"/>
                <a:cs typeface="DM Sans"/>
                <a:sym typeface="DM Sans"/>
              </a:rPr>
              <a:t>— Project Overview</a:t>
            </a:r>
            <a:endParaRPr/>
          </a:p>
        </p:txBody>
      </p:sp>
      <p:sp>
        <p:nvSpPr>
          <p:cNvPr id="95" name="Google Shape;95;p14"/>
          <p:cNvSpPr txBox="1"/>
          <p:nvPr/>
        </p:nvSpPr>
        <p:spPr>
          <a:xfrm>
            <a:off x="1028700" y="2028825"/>
            <a:ext cx="476250" cy="1190625"/>
          </a:xfrm>
          <a:prstGeom prst="rect">
            <a:avLst/>
          </a:prstGeom>
          <a:noFill/>
          <a:ln>
            <a:noFill/>
          </a:ln>
        </p:spPr>
        <p:txBody>
          <a:bodyPr spcFirstLastPara="1" wrap="square" lIns="0" tIns="0" rIns="0" bIns="0" anchor="t" anchorCtr="0">
            <a:spAutoFit/>
          </a:bodyPr>
          <a:lstStyle/>
          <a:p>
            <a:pPr marL="0" marR="0" lvl="0" indent="0" algn="l" rtl="0">
              <a:lnSpc>
                <a:spcPct val="0"/>
              </a:lnSpc>
              <a:spcBef>
                <a:spcPts val="0"/>
              </a:spcBef>
              <a:spcAft>
                <a:spcPts val="0"/>
              </a:spcAft>
              <a:buNone/>
            </a:pPr>
            <a:r>
              <a:rPr lang="en-US" sz="7500" b="0" i="0" u="none" strike="noStrike" cap="none">
                <a:solidFill>
                  <a:srgbClr val="005088"/>
                </a:solidFill>
                <a:latin typeface="Merriweather"/>
                <a:ea typeface="Merriweather"/>
                <a:cs typeface="Merriweather"/>
                <a:sym typeface="Merriweather"/>
              </a:rPr>
              <a:t>"</a:t>
            </a:r>
            <a:endParaRPr/>
          </a:p>
        </p:txBody>
      </p:sp>
      <p:sp>
        <p:nvSpPr>
          <p:cNvPr id="96" name="Google Shape;96;p14"/>
          <p:cNvSpPr txBox="1"/>
          <p:nvPr/>
        </p:nvSpPr>
        <p:spPr>
          <a:xfrm>
            <a:off x="10687050" y="5305425"/>
            <a:ext cx="476250" cy="1190625"/>
          </a:xfrm>
          <a:prstGeom prst="rect">
            <a:avLst/>
          </a:prstGeom>
          <a:noFill/>
          <a:ln>
            <a:noFill/>
          </a:ln>
        </p:spPr>
        <p:txBody>
          <a:bodyPr spcFirstLastPara="1" wrap="square" lIns="0" tIns="0" rIns="0" bIns="0" anchor="t" anchorCtr="0">
            <a:spAutoFit/>
          </a:bodyPr>
          <a:lstStyle/>
          <a:p>
            <a:pPr marL="0" marR="0" lvl="0" indent="0" algn="l" rtl="0">
              <a:lnSpc>
                <a:spcPct val="0"/>
              </a:lnSpc>
              <a:spcBef>
                <a:spcPts val="0"/>
              </a:spcBef>
              <a:spcAft>
                <a:spcPts val="0"/>
              </a:spcAft>
              <a:buNone/>
            </a:pPr>
            <a:r>
              <a:rPr lang="en-US" sz="7500" b="0" i="0" u="none" strike="noStrike" cap="none">
                <a:solidFill>
                  <a:srgbClr val="005088"/>
                </a:solidFill>
                <a:latin typeface="Merriweather"/>
                <a:ea typeface="Merriweather"/>
                <a:cs typeface="Merriweather"/>
                <a:sym typeface="Merriweather"/>
              </a:rPr>
              <a:t>"</a:t>
            </a:r>
            <a:endParaRPr/>
          </a:p>
        </p:txBody>
      </p:sp>
      <p:sp>
        <p:nvSpPr>
          <p:cNvPr id="97" name="Google Shape;97;p14"/>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05088"/>
                </a:solidFill>
                <a:latin typeface="Merriweather"/>
                <a:ea typeface="Merriweather"/>
                <a:cs typeface="Merriweather"/>
                <a:sym typeface="Merriweather"/>
              </a:rPr>
              <a:t>Project Abstract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01"/>
        <p:cNvGrpSpPr/>
        <p:nvPr/>
      </p:nvGrpSpPr>
      <p:grpSpPr>
        <a:xfrm>
          <a:off x="0" y="0"/>
          <a:ext cx="0" cy="0"/>
          <a:chOff x="0" y="0"/>
          <a:chExt cx="0" cy="0"/>
        </a:xfrm>
      </p:grpSpPr>
      <p:pic>
        <p:nvPicPr>
          <p:cNvPr id="102" name="Google Shape;102;p15" descr="image.png"/>
          <p:cNvPicPr preferRelativeResize="0"/>
          <p:nvPr/>
        </p:nvPicPr>
        <p:blipFill rotWithShape="1">
          <a:blip r:embed="rId3">
            <a:alphaModFix/>
          </a:blip>
          <a:srcRect/>
          <a:stretch/>
        </p:blipFill>
        <p:spPr>
          <a:xfrm>
            <a:off x="6334125" y="1714500"/>
            <a:ext cx="5286375" cy="4286250"/>
          </a:xfrm>
          <a:prstGeom prst="rect">
            <a:avLst/>
          </a:prstGeom>
          <a:noFill/>
          <a:ln>
            <a:noFill/>
          </a:ln>
        </p:spPr>
      </p:pic>
      <p:sp>
        <p:nvSpPr>
          <p:cNvPr id="103" name="Google Shape;103;p15"/>
          <p:cNvSpPr txBox="1"/>
          <p:nvPr/>
        </p:nvSpPr>
        <p:spPr>
          <a:xfrm>
            <a:off x="571500" y="1714500"/>
            <a:ext cx="5550693"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5088"/>
                </a:solidFill>
                <a:latin typeface="Merriweather"/>
                <a:ea typeface="Merriweather"/>
                <a:cs typeface="Merriweather"/>
                <a:sym typeface="Merriweather"/>
              </a:rPr>
              <a:t>Simulating Real-World Operations</a:t>
            </a:r>
            <a:endParaRPr/>
          </a:p>
        </p:txBody>
      </p:sp>
      <p:sp>
        <p:nvSpPr>
          <p:cNvPr id="104" name="Google Shape;104;p15"/>
          <p:cNvSpPr txBox="1"/>
          <p:nvPr/>
        </p:nvSpPr>
        <p:spPr>
          <a:xfrm>
            <a:off x="571500" y="2266950"/>
            <a:ext cx="528637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1E293B"/>
                </a:solidFill>
                <a:latin typeface="DM Sans"/>
                <a:ea typeface="DM Sans"/>
                <a:cs typeface="DM Sans"/>
                <a:sym typeface="DM Sans"/>
              </a:rPr>
              <a:t>The Café Billing System is a console-based application developed in C, designed to simulate the real-world operations of a café, including order placement and bill generation.</a:t>
            </a:r>
            <a:endParaRPr/>
          </a:p>
        </p:txBody>
      </p:sp>
      <p:sp>
        <p:nvSpPr>
          <p:cNvPr id="105" name="Google Shape;105;p15"/>
          <p:cNvSpPr txBox="1"/>
          <p:nvPr/>
        </p:nvSpPr>
        <p:spPr>
          <a:xfrm>
            <a:off x="571500" y="3209925"/>
            <a:ext cx="528637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1E293B"/>
                </a:solidFill>
                <a:latin typeface="DM Sans"/>
                <a:ea typeface="DM Sans"/>
                <a:cs typeface="DM Sans"/>
                <a:sym typeface="DM Sans"/>
              </a:rPr>
              <a:t>Arrays are used to store menu items and their respective prices, which simplifies management and enables easy updates to the menu.</a:t>
            </a:r>
            <a:endParaRPr/>
          </a:p>
        </p:txBody>
      </p:sp>
      <p:sp>
        <p:nvSpPr>
          <p:cNvPr id="106" name="Google Shape;106;p15"/>
          <p:cNvSpPr txBox="1"/>
          <p:nvPr/>
        </p:nvSpPr>
        <p:spPr>
          <a:xfrm>
            <a:off x="571500" y="4152900"/>
            <a:ext cx="5286375" cy="10287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1E293B"/>
                </a:solidFill>
                <a:latin typeface="DM Sans"/>
                <a:ea typeface="DM Sans"/>
                <a:cs typeface="DM Sans"/>
                <a:sym typeface="DM Sans"/>
              </a:rPr>
              <a:t>By incorporating conditional statements and arithmetic operations, the program calculates the subtotal, applies a fixed 10% tax rate, and provides the final total bill, reducing the human errors found in manual billing.</a:t>
            </a:r>
            <a:endParaRPr/>
          </a:p>
        </p:txBody>
      </p:sp>
      <p:pic>
        <p:nvPicPr>
          <p:cNvPr id="107" name="Google Shape;107;p15" descr="image.png"/>
          <p:cNvPicPr preferRelativeResize="0"/>
          <p:nvPr/>
        </p:nvPicPr>
        <p:blipFill rotWithShape="1">
          <a:blip r:embed="rId4">
            <a:alphaModFix/>
          </a:blip>
          <a:srcRect/>
          <a:stretch/>
        </p:blipFill>
        <p:spPr>
          <a:xfrm>
            <a:off x="6353175" y="1733550"/>
            <a:ext cx="5248275" cy="4248150"/>
          </a:xfrm>
          <a:prstGeom prst="rect">
            <a:avLst/>
          </a:prstGeom>
          <a:noFill/>
          <a:ln>
            <a:noFill/>
          </a:ln>
        </p:spPr>
      </p:pic>
      <p:sp>
        <p:nvSpPr>
          <p:cNvPr id="108" name="Google Shape;108;p15"/>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05088"/>
                </a:solidFill>
                <a:latin typeface="Merriweather"/>
                <a:ea typeface="Merriweather"/>
                <a:cs typeface="Merriweather"/>
                <a:sym typeface="Merriweather"/>
              </a:rPr>
              <a:t>Project Description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12"/>
        <p:cNvGrpSpPr/>
        <p:nvPr/>
      </p:nvGrpSpPr>
      <p:grpSpPr>
        <a:xfrm>
          <a:off x="0" y="0"/>
          <a:ext cx="0" cy="0"/>
          <a:chOff x="0" y="0"/>
          <a:chExt cx="0" cy="0"/>
        </a:xfrm>
      </p:grpSpPr>
      <p:sp>
        <p:nvSpPr>
          <p:cNvPr id="113" name="Google Shape;113;p16"/>
          <p:cNvSpPr/>
          <p:nvPr/>
        </p:nvSpPr>
        <p:spPr>
          <a:xfrm>
            <a:off x="5619750" y="2719387"/>
            <a:ext cx="952500" cy="476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4" name="Google Shape;114;p16"/>
          <p:cNvSpPr txBox="1"/>
          <p:nvPr/>
        </p:nvSpPr>
        <p:spPr>
          <a:xfrm>
            <a:off x="2465546" y="3052762"/>
            <a:ext cx="7260907" cy="838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250" b="1" i="0" u="none" strike="noStrike" cap="none">
                <a:solidFill>
                  <a:srgbClr val="005088"/>
                </a:solidFill>
                <a:latin typeface="Merriweather"/>
                <a:ea typeface="Merriweather"/>
                <a:cs typeface="Merriweather"/>
                <a:sym typeface="Merriweather"/>
              </a:rPr>
              <a:t>Project Methodology</a:t>
            </a:r>
            <a:endParaRPr/>
          </a:p>
        </p:txBody>
      </p:sp>
      <p:sp>
        <p:nvSpPr>
          <p:cNvPr id="115" name="Google Shape;115;p16"/>
          <p:cNvSpPr txBox="1"/>
          <p:nvPr/>
        </p:nvSpPr>
        <p:spPr>
          <a:xfrm>
            <a:off x="2876550" y="4081462"/>
            <a:ext cx="6438900" cy="3429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rgbClr val="1E293B"/>
                </a:solidFill>
                <a:latin typeface="DM Sans"/>
                <a:ea typeface="DM Sans"/>
                <a:cs typeface="DM Sans"/>
                <a:sym typeface="DM Sans"/>
              </a:rPr>
              <a:t>Exploring the 'how': from data and tools to the core algorithm.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19"/>
        <p:cNvGrpSpPr/>
        <p:nvPr/>
      </p:nvGrpSpPr>
      <p:grpSpPr>
        <a:xfrm>
          <a:off x="0" y="0"/>
          <a:ext cx="0" cy="0"/>
          <a:chOff x="0" y="0"/>
          <a:chExt cx="0" cy="0"/>
        </a:xfrm>
      </p:grpSpPr>
      <p:pic>
        <p:nvPicPr>
          <p:cNvPr id="120" name="Google Shape;120;p17" descr="image.png"/>
          <p:cNvPicPr preferRelativeResize="0"/>
          <p:nvPr/>
        </p:nvPicPr>
        <p:blipFill rotWithShape="1">
          <a:blip r:embed="rId3">
            <a:alphaModFix/>
          </a:blip>
          <a:srcRect/>
          <a:stretch/>
        </p:blipFill>
        <p:spPr>
          <a:xfrm>
            <a:off x="571500" y="2205037"/>
            <a:ext cx="5286375" cy="3305175"/>
          </a:xfrm>
          <a:prstGeom prst="rect">
            <a:avLst/>
          </a:prstGeom>
          <a:noFill/>
          <a:ln>
            <a:noFill/>
          </a:ln>
        </p:spPr>
      </p:pic>
      <p:pic>
        <p:nvPicPr>
          <p:cNvPr id="121" name="Google Shape;121;p17" descr="image.png"/>
          <p:cNvPicPr preferRelativeResize="0"/>
          <p:nvPr/>
        </p:nvPicPr>
        <p:blipFill rotWithShape="1">
          <a:blip r:embed="rId4">
            <a:alphaModFix/>
          </a:blip>
          <a:srcRect/>
          <a:stretch/>
        </p:blipFill>
        <p:spPr>
          <a:xfrm>
            <a:off x="6334125" y="2205037"/>
            <a:ext cx="5286375" cy="3305175"/>
          </a:xfrm>
          <a:prstGeom prst="rect">
            <a:avLst/>
          </a:prstGeom>
          <a:noFill/>
          <a:ln>
            <a:noFill/>
          </a:ln>
        </p:spPr>
      </p:pic>
      <p:sp>
        <p:nvSpPr>
          <p:cNvPr id="122" name="Google Shape;122;p17"/>
          <p:cNvSpPr txBox="1"/>
          <p:nvPr/>
        </p:nvSpPr>
        <p:spPr>
          <a:xfrm>
            <a:off x="962025" y="2595562"/>
            <a:ext cx="4730591"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F3F0DF"/>
                </a:solidFill>
                <a:latin typeface="Merriweather"/>
                <a:ea typeface="Merriweather"/>
                <a:cs typeface="Merriweather"/>
                <a:sym typeface="Merriweather"/>
              </a:rPr>
              <a:t>Dataset / Input Data</a:t>
            </a:r>
            <a:endParaRPr/>
          </a:p>
        </p:txBody>
      </p:sp>
      <p:sp>
        <p:nvSpPr>
          <p:cNvPr id="123" name="Google Shape;123;p17"/>
          <p:cNvSpPr txBox="1"/>
          <p:nvPr/>
        </p:nvSpPr>
        <p:spPr>
          <a:xfrm>
            <a:off x="6724650" y="2595562"/>
            <a:ext cx="4730591"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F3F0DF"/>
                </a:solidFill>
                <a:latin typeface="Merriweather"/>
                <a:ea typeface="Merriweather"/>
                <a:cs typeface="Merriweather"/>
                <a:sym typeface="Merriweather"/>
              </a:rPr>
              <a:t>Tools &amp; Technologies</a:t>
            </a:r>
            <a:endParaRPr/>
          </a:p>
        </p:txBody>
      </p:sp>
      <p:sp>
        <p:nvSpPr>
          <p:cNvPr id="124" name="Google Shape;124;p17"/>
          <p:cNvSpPr txBox="1"/>
          <p:nvPr/>
        </p:nvSpPr>
        <p:spPr>
          <a:xfrm>
            <a:off x="1143000" y="311943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25" name="Google Shape;125;p17"/>
          <p:cNvSpPr txBox="1"/>
          <p:nvPr/>
        </p:nvSpPr>
        <p:spPr>
          <a:xfrm>
            <a:off x="1200150" y="311943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Drink Names (Spanish Latte, etc.)</a:t>
            </a:r>
            <a:endParaRPr/>
          </a:p>
        </p:txBody>
      </p:sp>
      <p:sp>
        <p:nvSpPr>
          <p:cNvPr id="126" name="Google Shape;126;p17"/>
          <p:cNvSpPr txBox="1"/>
          <p:nvPr/>
        </p:nvSpPr>
        <p:spPr>
          <a:xfrm>
            <a:off x="1143000" y="351948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27" name="Google Shape;127;p17"/>
          <p:cNvSpPr txBox="1"/>
          <p:nvPr/>
        </p:nvSpPr>
        <p:spPr>
          <a:xfrm>
            <a:off x="1200150" y="351948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Drink Prices &amp; Temperature Charges</a:t>
            </a:r>
            <a:endParaRPr/>
          </a:p>
        </p:txBody>
      </p:sp>
      <p:sp>
        <p:nvSpPr>
          <p:cNvPr id="128" name="Google Shape;128;p17"/>
          <p:cNvSpPr txBox="1"/>
          <p:nvPr/>
        </p:nvSpPr>
        <p:spPr>
          <a:xfrm>
            <a:off x="1143000" y="391953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29" name="Google Shape;129;p17"/>
          <p:cNvSpPr txBox="1"/>
          <p:nvPr/>
        </p:nvSpPr>
        <p:spPr>
          <a:xfrm>
            <a:off x="1200150" y="391953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Size Options (Small, Medium, Large)</a:t>
            </a:r>
            <a:endParaRPr/>
          </a:p>
        </p:txBody>
      </p:sp>
      <p:sp>
        <p:nvSpPr>
          <p:cNvPr id="130" name="Google Shape;130;p17"/>
          <p:cNvSpPr txBox="1"/>
          <p:nvPr/>
        </p:nvSpPr>
        <p:spPr>
          <a:xfrm>
            <a:off x="1143000" y="431958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31" name="Google Shape;131;p17"/>
          <p:cNvSpPr txBox="1"/>
          <p:nvPr/>
        </p:nvSpPr>
        <p:spPr>
          <a:xfrm>
            <a:off x="1200150" y="431958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Sweet Add-ons (Lemon Tart, etc.)</a:t>
            </a:r>
            <a:endParaRPr/>
          </a:p>
        </p:txBody>
      </p:sp>
      <p:sp>
        <p:nvSpPr>
          <p:cNvPr id="132" name="Google Shape;132;p17"/>
          <p:cNvSpPr txBox="1"/>
          <p:nvPr/>
        </p:nvSpPr>
        <p:spPr>
          <a:xfrm>
            <a:off x="1143000" y="471963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33" name="Google Shape;133;p17"/>
          <p:cNvSpPr txBox="1"/>
          <p:nvPr/>
        </p:nvSpPr>
        <p:spPr>
          <a:xfrm>
            <a:off x="1200150" y="471963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Tax Rate (10%)</a:t>
            </a:r>
            <a:endParaRPr/>
          </a:p>
        </p:txBody>
      </p:sp>
      <p:sp>
        <p:nvSpPr>
          <p:cNvPr id="134" name="Google Shape;134;p17"/>
          <p:cNvSpPr txBox="1"/>
          <p:nvPr/>
        </p:nvSpPr>
        <p:spPr>
          <a:xfrm>
            <a:off x="6905625" y="311943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35" name="Google Shape;135;p17"/>
          <p:cNvSpPr txBox="1"/>
          <p:nvPr/>
        </p:nvSpPr>
        <p:spPr>
          <a:xfrm>
            <a:off x="6962775" y="311943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3F0DF"/>
                </a:solidFill>
                <a:latin typeface="DM Sans"/>
                <a:ea typeface="DM Sans"/>
                <a:cs typeface="DM Sans"/>
                <a:sym typeface="DM Sans"/>
              </a:rPr>
              <a:t>Language:</a:t>
            </a:r>
            <a:r>
              <a:rPr lang="en-US" sz="1350" b="0" i="0" u="none" strike="noStrike" cap="none">
                <a:solidFill>
                  <a:srgbClr val="F3F0DF"/>
                </a:solidFill>
                <a:latin typeface="DM Sans"/>
                <a:ea typeface="DM Sans"/>
                <a:cs typeface="DM Sans"/>
                <a:sym typeface="DM Sans"/>
              </a:rPr>
              <a:t> C Programming</a:t>
            </a:r>
            <a:endParaRPr/>
          </a:p>
        </p:txBody>
      </p:sp>
      <p:sp>
        <p:nvSpPr>
          <p:cNvPr id="136" name="Google Shape;136;p17"/>
          <p:cNvSpPr txBox="1"/>
          <p:nvPr/>
        </p:nvSpPr>
        <p:spPr>
          <a:xfrm>
            <a:off x="6905625" y="351948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37" name="Google Shape;137;p17"/>
          <p:cNvSpPr txBox="1"/>
          <p:nvPr/>
        </p:nvSpPr>
        <p:spPr>
          <a:xfrm>
            <a:off x="6962775" y="351948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3F0DF"/>
                </a:solidFill>
                <a:latin typeface="DM Sans"/>
                <a:ea typeface="DM Sans"/>
                <a:cs typeface="DM Sans"/>
                <a:sym typeface="DM Sans"/>
              </a:rPr>
              <a:t>IDE:</a:t>
            </a:r>
            <a:r>
              <a:rPr lang="en-US" sz="1350" b="0" i="0" u="none" strike="noStrike" cap="none">
                <a:solidFill>
                  <a:srgbClr val="F3F0DF"/>
                </a:solidFill>
                <a:latin typeface="DM Sans"/>
                <a:ea typeface="DM Sans"/>
                <a:cs typeface="DM Sans"/>
                <a:sym typeface="DM Sans"/>
              </a:rPr>
              <a:t> Dev C++</a:t>
            </a:r>
            <a:endParaRPr/>
          </a:p>
        </p:txBody>
      </p:sp>
      <p:sp>
        <p:nvSpPr>
          <p:cNvPr id="138" name="Google Shape;138;p17"/>
          <p:cNvSpPr txBox="1"/>
          <p:nvPr/>
        </p:nvSpPr>
        <p:spPr>
          <a:xfrm>
            <a:off x="6905625" y="391953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39" name="Google Shape;139;p17"/>
          <p:cNvSpPr txBox="1"/>
          <p:nvPr/>
        </p:nvSpPr>
        <p:spPr>
          <a:xfrm>
            <a:off x="6962775" y="391953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3F0DF"/>
                </a:solidFill>
                <a:latin typeface="DM Sans"/>
                <a:ea typeface="DM Sans"/>
                <a:cs typeface="DM Sans"/>
                <a:sym typeface="DM Sans"/>
              </a:rPr>
              <a:t>Platform:</a:t>
            </a:r>
            <a:r>
              <a:rPr lang="en-US" sz="1350" b="0" i="0" u="none" strike="noStrike" cap="none">
                <a:solidFill>
                  <a:srgbClr val="F3F0DF"/>
                </a:solidFill>
                <a:latin typeface="DM Sans"/>
                <a:ea typeface="DM Sans"/>
                <a:cs typeface="DM Sans"/>
                <a:sym typeface="DM Sans"/>
              </a:rPr>
              <a:t> Windows OS</a:t>
            </a:r>
            <a:endParaRPr/>
          </a:p>
        </p:txBody>
      </p:sp>
      <p:sp>
        <p:nvSpPr>
          <p:cNvPr id="140" name="Google Shape;140;p17"/>
          <p:cNvSpPr txBox="1"/>
          <p:nvPr/>
        </p:nvSpPr>
        <p:spPr>
          <a:xfrm>
            <a:off x="6905625" y="4319587"/>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3F0DF"/>
                </a:solidFill>
                <a:latin typeface="DM Sans"/>
                <a:ea typeface="DM Sans"/>
                <a:cs typeface="DM Sans"/>
                <a:sym typeface="DM Sans"/>
              </a:rPr>
              <a:t>•</a:t>
            </a:r>
            <a:endParaRPr/>
          </a:p>
        </p:txBody>
      </p:sp>
      <p:sp>
        <p:nvSpPr>
          <p:cNvPr id="141" name="Google Shape;141;p17"/>
          <p:cNvSpPr txBox="1"/>
          <p:nvPr/>
        </p:nvSpPr>
        <p:spPr>
          <a:xfrm>
            <a:off x="6962775" y="4319587"/>
            <a:ext cx="4267200" cy="257175"/>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3F0DF"/>
                </a:solidFill>
                <a:latin typeface="DM Sans"/>
                <a:ea typeface="DM Sans"/>
                <a:cs typeface="DM Sans"/>
                <a:sym typeface="DM Sans"/>
              </a:rPr>
              <a:t>Compiler:</a:t>
            </a:r>
            <a:r>
              <a:rPr lang="en-US" sz="1350" b="0" i="0" u="none" strike="noStrike" cap="none">
                <a:solidFill>
                  <a:srgbClr val="F3F0DF"/>
                </a:solidFill>
                <a:latin typeface="DM Sans"/>
                <a:ea typeface="DM Sans"/>
                <a:cs typeface="DM Sans"/>
                <a:sym typeface="DM Sans"/>
              </a:rPr>
              <a:t> GCC</a:t>
            </a:r>
            <a:endParaRPr/>
          </a:p>
        </p:txBody>
      </p:sp>
      <p:sp>
        <p:nvSpPr>
          <p:cNvPr id="142" name="Google Shape;142;p17"/>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05088"/>
                </a:solidFill>
                <a:latin typeface="Merriweather"/>
                <a:ea typeface="Merriweather"/>
                <a:cs typeface="Merriweather"/>
                <a:sym typeface="Merriweather"/>
              </a:rPr>
              <a:t>Dataset and Tools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46"/>
        <p:cNvGrpSpPr/>
        <p:nvPr/>
      </p:nvGrpSpPr>
      <p:grpSpPr>
        <a:xfrm>
          <a:off x="0" y="0"/>
          <a:ext cx="0" cy="0"/>
          <a:chOff x="0" y="0"/>
          <a:chExt cx="0" cy="0"/>
        </a:xfrm>
      </p:grpSpPr>
      <p:sp>
        <p:nvSpPr>
          <p:cNvPr id="147" name="Google Shape;147;p18"/>
          <p:cNvSpPr/>
          <p:nvPr/>
        </p:nvSpPr>
        <p:spPr>
          <a:xfrm>
            <a:off x="571500" y="3838575"/>
            <a:ext cx="11049000" cy="38100"/>
          </a:xfrm>
          <a:prstGeom prst="roundRect">
            <a:avLst>
              <a:gd name="adj" fmla="val 16667"/>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8"/>
          <p:cNvSpPr txBox="1"/>
          <p:nvPr/>
        </p:nvSpPr>
        <p:spPr>
          <a:xfrm>
            <a:off x="507968" y="4095750"/>
            <a:ext cx="266830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05088"/>
                </a:solidFill>
                <a:latin typeface="Merriweather"/>
                <a:ea typeface="Merriweather"/>
                <a:cs typeface="Merriweather"/>
                <a:sym typeface="Merriweather"/>
              </a:rPr>
              <a:t>1. START</a:t>
            </a:r>
            <a:endParaRPr/>
          </a:p>
        </p:txBody>
      </p:sp>
      <p:sp>
        <p:nvSpPr>
          <p:cNvPr id="149" name="Google Shape;149;p18"/>
          <p:cNvSpPr txBox="1"/>
          <p:nvPr/>
        </p:nvSpPr>
        <p:spPr>
          <a:xfrm>
            <a:off x="571500" y="4543425"/>
            <a:ext cx="2541240" cy="45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1E293B"/>
                </a:solidFill>
                <a:latin typeface="DM Sans"/>
                <a:ea typeface="DM Sans"/>
                <a:cs typeface="DM Sans"/>
                <a:sym typeface="DM Sans"/>
              </a:rPr>
              <a:t>Display Welcome message and all menus (Drink, Temp, Size, Sweet).</a:t>
            </a:r>
            <a:endParaRPr/>
          </a:p>
        </p:txBody>
      </p:sp>
      <p:sp>
        <p:nvSpPr>
          <p:cNvPr id="150" name="Google Shape;150;p18"/>
          <p:cNvSpPr txBox="1"/>
          <p:nvPr/>
        </p:nvSpPr>
        <p:spPr>
          <a:xfrm>
            <a:off x="3343888" y="2333625"/>
            <a:ext cx="266830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05088"/>
                </a:solidFill>
                <a:latin typeface="Merriweather"/>
                <a:ea typeface="Merriweather"/>
                <a:cs typeface="Merriweather"/>
                <a:sym typeface="Merriweather"/>
              </a:rPr>
              <a:t>2. INPUT</a:t>
            </a:r>
            <a:endParaRPr/>
          </a:p>
        </p:txBody>
      </p:sp>
      <p:sp>
        <p:nvSpPr>
          <p:cNvPr id="151" name="Google Shape;151;p18"/>
          <p:cNvSpPr txBox="1"/>
          <p:nvPr/>
        </p:nvSpPr>
        <p:spPr>
          <a:xfrm>
            <a:off x="3407419" y="2781300"/>
            <a:ext cx="2541240" cy="6858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1E293B"/>
                </a:solidFill>
                <a:latin typeface="DM Sans"/>
                <a:ea typeface="DM Sans"/>
                <a:cs typeface="DM Sans"/>
                <a:sym typeface="DM Sans"/>
              </a:rPr>
              <a:t>Get user choices (drinkChoice, tempChoice, sizeChoice, sweetChoice).</a:t>
            </a:r>
            <a:endParaRPr/>
          </a:p>
        </p:txBody>
      </p:sp>
      <p:sp>
        <p:nvSpPr>
          <p:cNvPr id="152" name="Google Shape;152;p18"/>
          <p:cNvSpPr txBox="1"/>
          <p:nvPr/>
        </p:nvSpPr>
        <p:spPr>
          <a:xfrm>
            <a:off x="6179808" y="4095750"/>
            <a:ext cx="266830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05088"/>
                </a:solidFill>
                <a:latin typeface="Merriweather"/>
                <a:ea typeface="Merriweather"/>
                <a:cs typeface="Merriweather"/>
                <a:sym typeface="Merriweather"/>
              </a:rPr>
              <a:t>3. VALIDATE</a:t>
            </a:r>
            <a:endParaRPr/>
          </a:p>
        </p:txBody>
      </p:sp>
      <p:sp>
        <p:nvSpPr>
          <p:cNvPr id="153" name="Google Shape;153;p18"/>
          <p:cNvSpPr txBox="1"/>
          <p:nvPr/>
        </p:nvSpPr>
        <p:spPr>
          <a:xfrm>
            <a:off x="6243339" y="4543425"/>
            <a:ext cx="2541240" cy="45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1E293B"/>
                </a:solidFill>
                <a:latin typeface="DM Sans"/>
                <a:ea typeface="DM Sans"/>
                <a:cs typeface="DM Sans"/>
                <a:sym typeface="DM Sans"/>
              </a:rPr>
              <a:t>If any input is invalid, set a default (e.g., Small, Hot, No Sweet).</a:t>
            </a:r>
            <a:endParaRPr/>
          </a:p>
        </p:txBody>
      </p:sp>
      <p:sp>
        <p:nvSpPr>
          <p:cNvPr id="154" name="Google Shape;154;p18"/>
          <p:cNvSpPr txBox="1"/>
          <p:nvPr/>
        </p:nvSpPr>
        <p:spPr>
          <a:xfrm>
            <a:off x="9015728" y="2562225"/>
            <a:ext cx="2668302"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05088"/>
                </a:solidFill>
                <a:latin typeface="Merriweather"/>
                <a:ea typeface="Merriweather"/>
                <a:cs typeface="Merriweather"/>
                <a:sym typeface="Merriweather"/>
              </a:rPr>
              <a:t>4. CALCULATE &amp; END</a:t>
            </a:r>
            <a:endParaRPr/>
          </a:p>
        </p:txBody>
      </p:sp>
      <p:sp>
        <p:nvSpPr>
          <p:cNvPr id="155" name="Google Shape;155;p18"/>
          <p:cNvSpPr txBox="1"/>
          <p:nvPr/>
        </p:nvSpPr>
        <p:spPr>
          <a:xfrm>
            <a:off x="9079259" y="3009900"/>
            <a:ext cx="2541240" cy="4572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1E293B"/>
                </a:solidFill>
                <a:latin typeface="DM Sans"/>
                <a:ea typeface="DM Sans"/>
                <a:cs typeface="DM Sans"/>
                <a:sym typeface="DM Sans"/>
              </a:rPr>
              <a:t>Calculate total, apply tax, and display the final Order Summary.</a:t>
            </a:r>
            <a:endParaRPr/>
          </a:p>
        </p:txBody>
      </p:sp>
      <p:sp>
        <p:nvSpPr>
          <p:cNvPr id="156" name="Google Shape;156;p18"/>
          <p:cNvSpPr/>
          <p:nvPr/>
        </p:nvSpPr>
        <p:spPr>
          <a:xfrm>
            <a:off x="1746870" y="3762375"/>
            <a:ext cx="190500" cy="190500"/>
          </a:xfrm>
          <a:prstGeom prst="roundRect">
            <a:avLst>
              <a:gd name="adj" fmla="val 50000"/>
            </a:avLst>
          </a:prstGeom>
          <a:solidFill>
            <a:srgbClr val="F3F0DF"/>
          </a:solidFill>
          <a:ln w="38100" cap="flat" cmpd="sng">
            <a:solidFill>
              <a:srgbClr val="00508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7" name="Google Shape;157;p18"/>
          <p:cNvSpPr/>
          <p:nvPr/>
        </p:nvSpPr>
        <p:spPr>
          <a:xfrm>
            <a:off x="4582790" y="3762375"/>
            <a:ext cx="190500" cy="190500"/>
          </a:xfrm>
          <a:prstGeom prst="roundRect">
            <a:avLst>
              <a:gd name="adj" fmla="val 50000"/>
            </a:avLst>
          </a:prstGeom>
          <a:solidFill>
            <a:srgbClr val="F3F0DF"/>
          </a:solidFill>
          <a:ln w="38100" cap="flat" cmpd="sng">
            <a:solidFill>
              <a:srgbClr val="00508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8" name="Google Shape;158;p18"/>
          <p:cNvSpPr/>
          <p:nvPr/>
        </p:nvSpPr>
        <p:spPr>
          <a:xfrm>
            <a:off x="7418709" y="3762375"/>
            <a:ext cx="190500" cy="190500"/>
          </a:xfrm>
          <a:prstGeom prst="roundRect">
            <a:avLst>
              <a:gd name="adj" fmla="val 50000"/>
            </a:avLst>
          </a:prstGeom>
          <a:solidFill>
            <a:srgbClr val="F3F0DF"/>
          </a:solidFill>
          <a:ln w="38100" cap="flat" cmpd="sng">
            <a:solidFill>
              <a:srgbClr val="00508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9" name="Google Shape;159;p18"/>
          <p:cNvSpPr/>
          <p:nvPr/>
        </p:nvSpPr>
        <p:spPr>
          <a:xfrm>
            <a:off x="10254629" y="3762375"/>
            <a:ext cx="190500" cy="190500"/>
          </a:xfrm>
          <a:prstGeom prst="roundRect">
            <a:avLst>
              <a:gd name="adj" fmla="val 50000"/>
            </a:avLst>
          </a:prstGeom>
          <a:solidFill>
            <a:srgbClr val="F3F0DF"/>
          </a:solidFill>
          <a:ln w="38100" cap="flat" cmpd="sng">
            <a:solidFill>
              <a:srgbClr val="00508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0" name="Google Shape;160;p18"/>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05088"/>
                </a:solidFill>
                <a:latin typeface="Merriweather"/>
                <a:ea typeface="Merriweather"/>
                <a:cs typeface="Merriweather"/>
                <a:sym typeface="Merriweather"/>
              </a:rPr>
              <a:t>Algorithm / Pseudocode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64"/>
        <p:cNvGrpSpPr/>
        <p:nvPr/>
      </p:nvGrpSpPr>
      <p:grpSpPr>
        <a:xfrm>
          <a:off x="0" y="0"/>
          <a:ext cx="0" cy="0"/>
          <a:chOff x="0" y="0"/>
          <a:chExt cx="0" cy="0"/>
        </a:xfrm>
      </p:grpSpPr>
      <p:pic>
        <p:nvPicPr>
          <p:cNvPr id="165" name="Google Shape;165;p19" descr="image.png"/>
          <p:cNvPicPr preferRelativeResize="0"/>
          <p:nvPr/>
        </p:nvPicPr>
        <p:blipFill rotWithShape="1">
          <a:blip r:embed="rId3">
            <a:alphaModFix/>
          </a:blip>
          <a:srcRect/>
          <a:stretch/>
        </p:blipFill>
        <p:spPr>
          <a:xfrm>
            <a:off x="571500" y="2257425"/>
            <a:ext cx="3429000" cy="3200400"/>
          </a:xfrm>
          <a:prstGeom prst="rect">
            <a:avLst/>
          </a:prstGeom>
          <a:noFill/>
          <a:ln>
            <a:noFill/>
          </a:ln>
        </p:spPr>
      </p:pic>
      <p:pic>
        <p:nvPicPr>
          <p:cNvPr id="166" name="Google Shape;166;p19" descr="image.png"/>
          <p:cNvPicPr preferRelativeResize="0"/>
          <p:nvPr/>
        </p:nvPicPr>
        <p:blipFill rotWithShape="1">
          <a:blip r:embed="rId4">
            <a:alphaModFix/>
          </a:blip>
          <a:srcRect/>
          <a:stretch/>
        </p:blipFill>
        <p:spPr>
          <a:xfrm>
            <a:off x="4381500" y="2257425"/>
            <a:ext cx="3429000" cy="3200400"/>
          </a:xfrm>
          <a:prstGeom prst="rect">
            <a:avLst/>
          </a:prstGeom>
          <a:noFill/>
          <a:ln>
            <a:noFill/>
          </a:ln>
        </p:spPr>
      </p:pic>
      <p:pic>
        <p:nvPicPr>
          <p:cNvPr id="167" name="Google Shape;167;p19" descr="image.png"/>
          <p:cNvPicPr preferRelativeResize="0"/>
          <p:nvPr/>
        </p:nvPicPr>
        <p:blipFill rotWithShape="1">
          <a:blip r:embed="rId5">
            <a:alphaModFix/>
          </a:blip>
          <a:srcRect/>
          <a:stretch/>
        </p:blipFill>
        <p:spPr>
          <a:xfrm>
            <a:off x="8191500" y="2257425"/>
            <a:ext cx="3429000" cy="3200400"/>
          </a:xfrm>
          <a:prstGeom prst="rect">
            <a:avLst/>
          </a:prstGeom>
          <a:noFill/>
          <a:ln>
            <a:noFill/>
          </a:ln>
        </p:spPr>
      </p:pic>
      <p:sp>
        <p:nvSpPr>
          <p:cNvPr id="168" name="Google Shape;168;p19"/>
          <p:cNvSpPr txBox="1"/>
          <p:nvPr/>
        </p:nvSpPr>
        <p:spPr>
          <a:xfrm>
            <a:off x="1465897" y="3267075"/>
            <a:ext cx="1640205"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3F0DF"/>
                </a:solidFill>
                <a:latin typeface="Merriweather"/>
                <a:ea typeface="Merriweather"/>
                <a:cs typeface="Merriweather"/>
                <a:sym typeface="Merriweather"/>
              </a:rPr>
              <a:t>Objectives</a:t>
            </a:r>
            <a:endParaRPr/>
          </a:p>
        </p:txBody>
      </p:sp>
      <p:sp>
        <p:nvSpPr>
          <p:cNvPr id="169" name="Google Shape;169;p19"/>
          <p:cNvSpPr txBox="1"/>
          <p:nvPr/>
        </p:nvSpPr>
        <p:spPr>
          <a:xfrm>
            <a:off x="866775" y="3962400"/>
            <a:ext cx="2838450" cy="10287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To automate café billing operations and generate accurate bills, including a full tax and itemized breakdown.</a:t>
            </a:r>
            <a:endParaRPr/>
          </a:p>
        </p:txBody>
      </p:sp>
      <p:sp>
        <p:nvSpPr>
          <p:cNvPr id="170" name="Google Shape;170;p19"/>
          <p:cNvSpPr txBox="1"/>
          <p:nvPr/>
        </p:nvSpPr>
        <p:spPr>
          <a:xfrm>
            <a:off x="5655945" y="3267075"/>
            <a:ext cx="880110"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3F0DF"/>
                </a:solidFill>
                <a:latin typeface="Merriweather"/>
                <a:ea typeface="Merriweather"/>
                <a:cs typeface="Merriweather"/>
                <a:sym typeface="Merriweather"/>
              </a:rPr>
              <a:t>Goals</a:t>
            </a:r>
            <a:endParaRPr/>
          </a:p>
        </p:txBody>
      </p:sp>
      <p:sp>
        <p:nvSpPr>
          <p:cNvPr id="171" name="Google Shape;171;p19"/>
          <p:cNvSpPr txBox="1"/>
          <p:nvPr/>
        </p:nvSpPr>
        <p:spPr>
          <a:xfrm>
            <a:off x="4676775" y="3962400"/>
            <a:ext cx="2838450" cy="10287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To apply programming fundamentals and demonstrate proficiency in C (arrays, switch statements, and loops).</a:t>
            </a:r>
            <a:endParaRPr/>
          </a:p>
        </p:txBody>
      </p:sp>
      <p:sp>
        <p:nvSpPr>
          <p:cNvPr id="172" name="Google Shape;172;p19"/>
          <p:cNvSpPr txBox="1"/>
          <p:nvPr/>
        </p:nvSpPr>
        <p:spPr>
          <a:xfrm>
            <a:off x="9025890" y="3267075"/>
            <a:ext cx="1760220"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3F0DF"/>
                </a:solidFill>
                <a:latin typeface="Merriweather"/>
                <a:ea typeface="Merriweather"/>
                <a:cs typeface="Merriweather"/>
                <a:sym typeface="Merriweather"/>
              </a:rPr>
              <a:t>Simulation</a:t>
            </a:r>
            <a:endParaRPr/>
          </a:p>
        </p:txBody>
      </p:sp>
      <p:sp>
        <p:nvSpPr>
          <p:cNvPr id="173" name="Google Shape;173;p19"/>
          <p:cNvSpPr txBox="1"/>
          <p:nvPr/>
        </p:nvSpPr>
        <p:spPr>
          <a:xfrm>
            <a:off x="8486775" y="3962400"/>
            <a:ext cx="2838450"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To simulate a real-world ordering process in a simple, structured, and user-friendly console format.</a:t>
            </a:r>
            <a:endParaRPr/>
          </a:p>
        </p:txBody>
      </p:sp>
      <p:pic>
        <p:nvPicPr>
          <p:cNvPr id="174" name="Google Shape;174;p19" descr="image.png"/>
          <p:cNvPicPr preferRelativeResize="0"/>
          <p:nvPr/>
        </p:nvPicPr>
        <p:blipFill rotWithShape="1">
          <a:blip r:embed="rId6">
            <a:alphaModFix/>
          </a:blip>
          <a:srcRect/>
          <a:stretch/>
        </p:blipFill>
        <p:spPr>
          <a:xfrm>
            <a:off x="2057400" y="2571750"/>
            <a:ext cx="457200" cy="457200"/>
          </a:xfrm>
          <a:prstGeom prst="rect">
            <a:avLst/>
          </a:prstGeom>
          <a:noFill/>
          <a:ln>
            <a:noFill/>
          </a:ln>
        </p:spPr>
      </p:pic>
      <p:pic>
        <p:nvPicPr>
          <p:cNvPr id="175" name="Google Shape;175;p19" descr="image.png"/>
          <p:cNvPicPr preferRelativeResize="0"/>
          <p:nvPr/>
        </p:nvPicPr>
        <p:blipFill rotWithShape="1">
          <a:blip r:embed="rId7">
            <a:alphaModFix/>
          </a:blip>
          <a:srcRect/>
          <a:stretch/>
        </p:blipFill>
        <p:spPr>
          <a:xfrm>
            <a:off x="5810250" y="2571750"/>
            <a:ext cx="571500" cy="457200"/>
          </a:xfrm>
          <a:prstGeom prst="rect">
            <a:avLst/>
          </a:prstGeom>
          <a:noFill/>
          <a:ln>
            <a:noFill/>
          </a:ln>
        </p:spPr>
      </p:pic>
      <p:pic>
        <p:nvPicPr>
          <p:cNvPr id="176" name="Google Shape;176;p19" descr="image.png"/>
          <p:cNvPicPr preferRelativeResize="0"/>
          <p:nvPr/>
        </p:nvPicPr>
        <p:blipFill rotWithShape="1">
          <a:blip r:embed="rId8">
            <a:alphaModFix/>
          </a:blip>
          <a:srcRect/>
          <a:stretch/>
        </p:blipFill>
        <p:spPr>
          <a:xfrm>
            <a:off x="9677400" y="2571750"/>
            <a:ext cx="457200" cy="457200"/>
          </a:xfrm>
          <a:prstGeom prst="rect">
            <a:avLst/>
          </a:prstGeom>
          <a:noFill/>
          <a:ln>
            <a:noFill/>
          </a:ln>
        </p:spPr>
      </p:pic>
      <p:sp>
        <p:nvSpPr>
          <p:cNvPr id="177" name="Google Shape;177;p19"/>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05088"/>
                </a:solidFill>
                <a:latin typeface="Merriweather"/>
                <a:ea typeface="Merriweather"/>
                <a:cs typeface="Merriweather"/>
                <a:sym typeface="Merriweather"/>
              </a:rPr>
              <a:t>Objectives &amp; Goals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81"/>
        <p:cNvGrpSpPr/>
        <p:nvPr/>
      </p:nvGrpSpPr>
      <p:grpSpPr>
        <a:xfrm>
          <a:off x="0" y="0"/>
          <a:ext cx="0" cy="0"/>
          <a:chOff x="0" y="0"/>
          <a:chExt cx="0" cy="0"/>
        </a:xfrm>
      </p:grpSpPr>
      <p:sp>
        <p:nvSpPr>
          <p:cNvPr id="182" name="Google Shape;182;p20"/>
          <p:cNvSpPr txBox="1"/>
          <p:nvPr/>
        </p:nvSpPr>
        <p:spPr>
          <a:xfrm>
            <a:off x="2190750" y="209550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E293B"/>
                </a:solidFill>
                <a:latin typeface="DM Sans"/>
                <a:ea typeface="DM Sans"/>
                <a:cs typeface="DM Sans"/>
                <a:sym typeface="DM Sans"/>
              </a:rPr>
              <a:t>A functional console-based Cafe Billing System that accurately performs ordering and billing operations.</a:t>
            </a:r>
            <a:endParaRPr/>
          </a:p>
        </p:txBody>
      </p:sp>
      <p:sp>
        <p:nvSpPr>
          <p:cNvPr id="183" name="Google Shape;183;p20"/>
          <p:cNvSpPr txBox="1"/>
          <p:nvPr/>
        </p:nvSpPr>
        <p:spPr>
          <a:xfrm>
            <a:off x="2190750" y="285750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E293B"/>
                </a:solidFill>
                <a:latin typeface="DM Sans"/>
                <a:ea typeface="DM Sans"/>
                <a:cs typeface="DM Sans"/>
                <a:sym typeface="DM Sans"/>
              </a:rPr>
              <a:t>A system that allows users to select drinks, sizes, and sweet add-ons using simple numeric inputs.</a:t>
            </a:r>
            <a:endParaRPr/>
          </a:p>
        </p:txBody>
      </p:sp>
      <p:sp>
        <p:nvSpPr>
          <p:cNvPr id="184" name="Google Shape;184;p20"/>
          <p:cNvSpPr txBox="1"/>
          <p:nvPr/>
        </p:nvSpPr>
        <p:spPr>
          <a:xfrm>
            <a:off x="2190750" y="3619500"/>
            <a:ext cx="8191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E293B"/>
                </a:solidFill>
                <a:latin typeface="DM Sans"/>
                <a:ea typeface="DM Sans"/>
                <a:cs typeface="DM Sans"/>
                <a:sym typeface="DM Sans"/>
              </a:rPr>
              <a:t>Automated calculation of total bills, including tax, without human intervention.</a:t>
            </a:r>
            <a:endParaRPr/>
          </a:p>
        </p:txBody>
      </p:sp>
      <p:sp>
        <p:nvSpPr>
          <p:cNvPr id="185" name="Google Shape;185;p20"/>
          <p:cNvSpPr txBox="1"/>
          <p:nvPr/>
        </p:nvSpPr>
        <p:spPr>
          <a:xfrm>
            <a:off x="2190750" y="409575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E293B"/>
                </a:solidFill>
                <a:latin typeface="DM Sans"/>
                <a:ea typeface="DM Sans"/>
                <a:cs typeface="DM Sans"/>
                <a:sym typeface="DM Sans"/>
              </a:rPr>
              <a:t>A clear, itemized order summary displayed with each selected option and its corresponding price.</a:t>
            </a:r>
            <a:endParaRPr/>
          </a:p>
        </p:txBody>
      </p:sp>
      <p:sp>
        <p:nvSpPr>
          <p:cNvPr id="186" name="Google Shape;186;p20"/>
          <p:cNvSpPr txBox="1"/>
          <p:nvPr/>
        </p:nvSpPr>
        <p:spPr>
          <a:xfrm>
            <a:off x="2190750" y="4857750"/>
            <a:ext cx="8191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E293B"/>
                </a:solidFill>
                <a:latin typeface="DM Sans"/>
                <a:ea typeface="DM Sans"/>
                <a:cs typeface="DM Sans"/>
                <a:sym typeface="DM Sans"/>
              </a:rPr>
              <a:t>A simple and user-friendly interface that ensures smooth interaction and prevents crashes from invalid input.</a:t>
            </a:r>
            <a:endParaRPr/>
          </a:p>
        </p:txBody>
      </p:sp>
      <p:pic>
        <p:nvPicPr>
          <p:cNvPr id="187" name="Google Shape;187;p20" descr="image.png"/>
          <p:cNvPicPr preferRelativeResize="0"/>
          <p:nvPr/>
        </p:nvPicPr>
        <p:blipFill rotWithShape="1">
          <a:blip r:embed="rId3">
            <a:alphaModFix/>
          </a:blip>
          <a:srcRect/>
          <a:stretch/>
        </p:blipFill>
        <p:spPr>
          <a:xfrm>
            <a:off x="1809750" y="2143125"/>
            <a:ext cx="228600" cy="228600"/>
          </a:xfrm>
          <a:prstGeom prst="rect">
            <a:avLst/>
          </a:prstGeom>
          <a:noFill/>
          <a:ln>
            <a:noFill/>
          </a:ln>
        </p:spPr>
      </p:pic>
      <p:pic>
        <p:nvPicPr>
          <p:cNvPr id="188" name="Google Shape;188;p20" descr="image.png"/>
          <p:cNvPicPr preferRelativeResize="0"/>
          <p:nvPr/>
        </p:nvPicPr>
        <p:blipFill rotWithShape="1">
          <a:blip r:embed="rId3">
            <a:alphaModFix/>
          </a:blip>
          <a:srcRect/>
          <a:stretch/>
        </p:blipFill>
        <p:spPr>
          <a:xfrm>
            <a:off x="1809750" y="2905125"/>
            <a:ext cx="228600" cy="228600"/>
          </a:xfrm>
          <a:prstGeom prst="rect">
            <a:avLst/>
          </a:prstGeom>
          <a:noFill/>
          <a:ln>
            <a:noFill/>
          </a:ln>
        </p:spPr>
      </p:pic>
      <p:pic>
        <p:nvPicPr>
          <p:cNvPr id="189" name="Google Shape;189;p20" descr="image.png"/>
          <p:cNvPicPr preferRelativeResize="0"/>
          <p:nvPr/>
        </p:nvPicPr>
        <p:blipFill rotWithShape="1">
          <a:blip r:embed="rId3">
            <a:alphaModFix/>
          </a:blip>
          <a:srcRect/>
          <a:stretch/>
        </p:blipFill>
        <p:spPr>
          <a:xfrm>
            <a:off x="1809750" y="3667125"/>
            <a:ext cx="228600" cy="228600"/>
          </a:xfrm>
          <a:prstGeom prst="rect">
            <a:avLst/>
          </a:prstGeom>
          <a:noFill/>
          <a:ln>
            <a:noFill/>
          </a:ln>
        </p:spPr>
      </p:pic>
      <p:pic>
        <p:nvPicPr>
          <p:cNvPr id="190" name="Google Shape;190;p20" descr="image.png"/>
          <p:cNvPicPr preferRelativeResize="0"/>
          <p:nvPr/>
        </p:nvPicPr>
        <p:blipFill rotWithShape="1">
          <a:blip r:embed="rId3">
            <a:alphaModFix/>
          </a:blip>
          <a:srcRect/>
          <a:stretch/>
        </p:blipFill>
        <p:spPr>
          <a:xfrm>
            <a:off x="1809750" y="4143375"/>
            <a:ext cx="228600" cy="228600"/>
          </a:xfrm>
          <a:prstGeom prst="rect">
            <a:avLst/>
          </a:prstGeom>
          <a:noFill/>
          <a:ln>
            <a:noFill/>
          </a:ln>
        </p:spPr>
      </p:pic>
      <p:pic>
        <p:nvPicPr>
          <p:cNvPr id="191" name="Google Shape;191;p20" descr="image.png"/>
          <p:cNvPicPr preferRelativeResize="0"/>
          <p:nvPr/>
        </p:nvPicPr>
        <p:blipFill rotWithShape="1">
          <a:blip r:embed="rId3">
            <a:alphaModFix/>
          </a:blip>
          <a:srcRect/>
          <a:stretch/>
        </p:blipFill>
        <p:spPr>
          <a:xfrm>
            <a:off x="1809750" y="4905375"/>
            <a:ext cx="228600" cy="228600"/>
          </a:xfrm>
          <a:prstGeom prst="rect">
            <a:avLst/>
          </a:prstGeom>
          <a:noFill/>
          <a:ln>
            <a:noFill/>
          </a:ln>
        </p:spPr>
      </p:pic>
      <p:sp>
        <p:nvSpPr>
          <p:cNvPr id="192" name="Google Shape;192;p20"/>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05088"/>
                </a:solidFill>
                <a:latin typeface="Merriweather"/>
                <a:ea typeface="Merriweather"/>
                <a:cs typeface="Merriweather"/>
                <a:sym typeface="Merriweather"/>
              </a:rPr>
              <a:t>Expected Outcomes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96"/>
        <p:cNvGrpSpPr/>
        <p:nvPr/>
      </p:nvGrpSpPr>
      <p:grpSpPr>
        <a:xfrm>
          <a:off x="0" y="0"/>
          <a:ext cx="0" cy="0"/>
          <a:chOff x="0" y="0"/>
          <a:chExt cx="0" cy="0"/>
        </a:xfrm>
      </p:grpSpPr>
      <p:sp>
        <p:nvSpPr>
          <p:cNvPr id="197" name="Google Shape;197;p21"/>
          <p:cNvSpPr/>
          <p:nvPr/>
        </p:nvSpPr>
        <p:spPr>
          <a:xfrm>
            <a:off x="5619750" y="2719387"/>
            <a:ext cx="952500" cy="4762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8" name="Google Shape;198;p21"/>
          <p:cNvSpPr txBox="1"/>
          <p:nvPr/>
        </p:nvSpPr>
        <p:spPr>
          <a:xfrm>
            <a:off x="2340530" y="3052762"/>
            <a:ext cx="7510938" cy="838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5250" b="1" i="0" u="none" strike="noStrike" cap="none">
                <a:solidFill>
                  <a:srgbClr val="005088"/>
                </a:solidFill>
                <a:latin typeface="Merriweather"/>
                <a:ea typeface="Merriweather"/>
                <a:cs typeface="Merriweather"/>
                <a:sym typeface="Merriweather"/>
              </a:rPr>
              <a:t>Code Implementation</a:t>
            </a:r>
            <a:endParaRPr/>
          </a:p>
        </p:txBody>
      </p:sp>
      <p:sp>
        <p:nvSpPr>
          <p:cNvPr id="199" name="Google Shape;199;p21"/>
          <p:cNvSpPr txBox="1"/>
          <p:nvPr/>
        </p:nvSpPr>
        <p:spPr>
          <a:xfrm>
            <a:off x="3714750" y="4081462"/>
            <a:ext cx="4762500" cy="3429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rgbClr val="1E293B"/>
                </a:solidFill>
                <a:latin typeface="DM Sans"/>
                <a:ea typeface="DM Sans"/>
                <a:cs typeface="DM Sans"/>
                <a:sym typeface="DM Sans"/>
              </a:rPr>
              <a:t>A look at the C code structure and core logic.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203"/>
        <p:cNvGrpSpPr/>
        <p:nvPr/>
      </p:nvGrpSpPr>
      <p:grpSpPr>
        <a:xfrm>
          <a:off x="0" y="0"/>
          <a:ext cx="0" cy="0"/>
          <a:chOff x="0" y="0"/>
          <a:chExt cx="0" cy="0"/>
        </a:xfrm>
      </p:grpSpPr>
      <p:pic>
        <p:nvPicPr>
          <p:cNvPr id="204" name="Google Shape;204;p22" descr="image.png"/>
          <p:cNvPicPr preferRelativeResize="0"/>
          <p:nvPr/>
        </p:nvPicPr>
        <p:blipFill rotWithShape="1">
          <a:blip r:embed="rId3">
            <a:alphaModFix/>
          </a:blip>
          <a:srcRect/>
          <a:stretch/>
        </p:blipFill>
        <p:spPr>
          <a:xfrm>
            <a:off x="6334125" y="1714500"/>
            <a:ext cx="5286375" cy="4286250"/>
          </a:xfrm>
          <a:prstGeom prst="rect">
            <a:avLst/>
          </a:prstGeom>
          <a:noFill/>
          <a:ln>
            <a:noFill/>
          </a:ln>
        </p:spPr>
      </p:pic>
      <p:sp>
        <p:nvSpPr>
          <p:cNvPr id="205" name="Google Shape;205;p22"/>
          <p:cNvSpPr txBox="1"/>
          <p:nvPr/>
        </p:nvSpPr>
        <p:spPr>
          <a:xfrm>
            <a:off x="752475" y="1714500"/>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DM Sans"/>
                <a:ea typeface="DM Sans"/>
                <a:cs typeface="DM Sans"/>
                <a:sym typeface="DM Sans"/>
              </a:rPr>
              <a:t>•</a:t>
            </a:r>
            <a:endParaRPr/>
          </a:p>
        </p:txBody>
      </p:sp>
      <p:sp>
        <p:nvSpPr>
          <p:cNvPr id="206" name="Google Shape;206;p22"/>
          <p:cNvSpPr txBox="1"/>
          <p:nvPr/>
        </p:nvSpPr>
        <p:spPr>
          <a:xfrm>
            <a:off x="809625" y="1714500"/>
            <a:ext cx="5048250" cy="514350"/>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dirty="0">
                <a:solidFill>
                  <a:srgbClr val="1E293B"/>
                </a:solidFill>
                <a:latin typeface="DM Sans"/>
                <a:ea typeface="DM Sans"/>
                <a:cs typeface="DM Sans"/>
                <a:sym typeface="DM Sans"/>
              </a:rPr>
              <a:t>Arrays:</a:t>
            </a:r>
            <a:r>
              <a:rPr lang="en-US" sz="1350" b="0" i="0" u="none" strike="noStrike" cap="none" dirty="0">
                <a:solidFill>
                  <a:srgbClr val="1E293B"/>
                </a:solidFill>
                <a:latin typeface="DM Sans"/>
                <a:ea typeface="DM Sans"/>
                <a:cs typeface="DM Sans"/>
                <a:sym typeface="DM Sans"/>
              </a:rPr>
              <a:t> char drinks[4][40] and float drinkPrices[4] store menu items and costs.</a:t>
            </a:r>
            <a:endParaRPr dirty="0"/>
          </a:p>
        </p:txBody>
      </p:sp>
      <p:sp>
        <p:nvSpPr>
          <p:cNvPr id="207" name="Google Shape;207;p22"/>
          <p:cNvSpPr txBox="1"/>
          <p:nvPr/>
        </p:nvSpPr>
        <p:spPr>
          <a:xfrm>
            <a:off x="752475" y="2371725"/>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DM Sans"/>
                <a:ea typeface="DM Sans"/>
                <a:cs typeface="DM Sans"/>
                <a:sym typeface="DM Sans"/>
              </a:rPr>
              <a:t>•</a:t>
            </a:r>
            <a:endParaRPr/>
          </a:p>
        </p:txBody>
      </p:sp>
      <p:sp>
        <p:nvSpPr>
          <p:cNvPr id="208" name="Google Shape;208;p22"/>
          <p:cNvSpPr txBox="1"/>
          <p:nvPr/>
        </p:nvSpPr>
        <p:spPr>
          <a:xfrm>
            <a:off x="809625" y="2371725"/>
            <a:ext cx="5048250" cy="514350"/>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E293B"/>
                </a:solidFill>
                <a:latin typeface="DM Sans"/>
                <a:ea typeface="DM Sans"/>
                <a:cs typeface="DM Sans"/>
                <a:sym typeface="DM Sans"/>
              </a:rPr>
              <a:t>Input/Validation:</a:t>
            </a:r>
            <a:r>
              <a:rPr lang="en-US" sz="1350" b="0" i="0" u="none" strike="noStrike" cap="none">
                <a:solidFill>
                  <a:srgbClr val="1E293B"/>
                </a:solidFill>
                <a:latin typeface="DM Sans"/>
                <a:ea typeface="DM Sans"/>
                <a:cs typeface="DM Sans"/>
                <a:sym typeface="DM Sans"/>
              </a:rPr>
              <a:t> scanf gets user choice. if (choice &lt; 1 || choice &gt; 4) checks validity and sets a default.</a:t>
            </a:r>
            <a:endParaRPr/>
          </a:p>
        </p:txBody>
      </p:sp>
      <p:sp>
        <p:nvSpPr>
          <p:cNvPr id="209" name="Google Shape;209;p22"/>
          <p:cNvSpPr txBox="1"/>
          <p:nvPr/>
        </p:nvSpPr>
        <p:spPr>
          <a:xfrm>
            <a:off x="752475" y="3028950"/>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DM Sans"/>
                <a:ea typeface="DM Sans"/>
                <a:cs typeface="DM Sans"/>
                <a:sym typeface="DM Sans"/>
              </a:rPr>
              <a:t>•</a:t>
            </a:r>
            <a:endParaRPr/>
          </a:p>
        </p:txBody>
      </p:sp>
      <p:sp>
        <p:nvSpPr>
          <p:cNvPr id="210" name="Google Shape;210;p22"/>
          <p:cNvSpPr txBox="1"/>
          <p:nvPr/>
        </p:nvSpPr>
        <p:spPr>
          <a:xfrm>
            <a:off x="809625" y="3028950"/>
            <a:ext cx="5048250" cy="514350"/>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E293B"/>
                </a:solidFill>
                <a:latin typeface="DM Sans"/>
                <a:ea typeface="DM Sans"/>
                <a:cs typeface="DM Sans"/>
                <a:sym typeface="DM Sans"/>
              </a:rPr>
              <a:t>Calculation:</a:t>
            </a:r>
            <a:r>
              <a:rPr lang="en-US" sz="1350" b="0" i="0" u="none" strike="noStrike" cap="none">
                <a:solidFill>
                  <a:srgbClr val="1E293B"/>
                </a:solidFill>
                <a:latin typeface="DM Sans"/>
                <a:ea typeface="DM Sans"/>
                <a:cs typeface="DM Sans"/>
                <a:sym typeface="DM Sans"/>
              </a:rPr>
              <a:t> total = drinkPrice + sizePrice + .... tax = total * TAX_RATE.</a:t>
            </a:r>
            <a:endParaRPr/>
          </a:p>
        </p:txBody>
      </p:sp>
      <p:sp>
        <p:nvSpPr>
          <p:cNvPr id="211" name="Google Shape;211;p22"/>
          <p:cNvSpPr txBox="1"/>
          <p:nvPr/>
        </p:nvSpPr>
        <p:spPr>
          <a:xfrm>
            <a:off x="752475" y="3686175"/>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DM Sans"/>
                <a:ea typeface="DM Sans"/>
                <a:cs typeface="DM Sans"/>
                <a:sym typeface="DM Sans"/>
              </a:rPr>
              <a:t>•</a:t>
            </a:r>
            <a:endParaRPr/>
          </a:p>
        </p:txBody>
      </p:sp>
      <p:sp>
        <p:nvSpPr>
          <p:cNvPr id="212" name="Google Shape;212;p22"/>
          <p:cNvSpPr txBox="1"/>
          <p:nvPr/>
        </p:nvSpPr>
        <p:spPr>
          <a:xfrm>
            <a:off x="809625" y="3686175"/>
            <a:ext cx="5048250" cy="514350"/>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E293B"/>
                </a:solidFill>
                <a:latin typeface="DM Sans"/>
                <a:ea typeface="DM Sans"/>
                <a:cs typeface="DM Sans"/>
                <a:sym typeface="DM Sans"/>
              </a:rPr>
              <a:t>Constants:</a:t>
            </a:r>
            <a:r>
              <a:rPr lang="en-US" sz="1350" b="0" i="0" u="none" strike="noStrike" cap="none">
                <a:solidFill>
                  <a:srgbClr val="1E293B"/>
                </a:solidFill>
                <a:latin typeface="DM Sans"/>
                <a:ea typeface="DM Sans"/>
                <a:cs typeface="DM Sans"/>
                <a:sym typeface="DM Sans"/>
              </a:rPr>
              <a:t> const float TAX_RATE = 0.10; ensures the 10% tax rate is fixed and cannot be accidentally modified.</a:t>
            </a:r>
            <a:endParaRPr/>
          </a:p>
        </p:txBody>
      </p:sp>
      <p:sp>
        <p:nvSpPr>
          <p:cNvPr id="213" name="Google Shape;213;p22"/>
          <p:cNvSpPr txBox="1"/>
          <p:nvPr/>
        </p:nvSpPr>
        <p:spPr>
          <a:xfrm>
            <a:off x="752475" y="4343400"/>
            <a:ext cx="571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1E293B"/>
                </a:solidFill>
                <a:latin typeface="DM Sans"/>
                <a:ea typeface="DM Sans"/>
                <a:cs typeface="DM Sans"/>
                <a:sym typeface="DM Sans"/>
              </a:rPr>
              <a:t>•</a:t>
            </a:r>
            <a:endParaRPr/>
          </a:p>
        </p:txBody>
      </p:sp>
      <p:sp>
        <p:nvSpPr>
          <p:cNvPr id="214" name="Google Shape;214;p22"/>
          <p:cNvSpPr txBox="1"/>
          <p:nvPr/>
        </p:nvSpPr>
        <p:spPr>
          <a:xfrm>
            <a:off x="809625" y="4343400"/>
            <a:ext cx="5048250" cy="514350"/>
          </a:xfrm>
          <a:prstGeom prst="rect">
            <a:avLst/>
          </a:prstGeom>
          <a:noFill/>
          <a:ln>
            <a:noFill/>
          </a:ln>
        </p:spPr>
        <p:txBody>
          <a:bodyPr spcFirstLastPara="1" wrap="square" lIns="57150" tIns="0" rIns="0" bIns="0" anchor="t" anchorCtr="0">
            <a:spAutoFit/>
          </a:bodyPr>
          <a:lstStyle/>
          <a:p>
            <a:pPr marL="0" marR="0" lvl="0" indent="0" algn="l" rtl="0">
              <a:lnSpc>
                <a:spcPct val="150000"/>
              </a:lnSpc>
              <a:spcBef>
                <a:spcPts val="0"/>
              </a:spcBef>
              <a:spcAft>
                <a:spcPts val="0"/>
              </a:spcAft>
              <a:buNone/>
            </a:pPr>
            <a:r>
              <a:rPr lang="en-US" sz="1350" b="1" i="0" u="none" strike="noStrike" cap="none" dirty="0">
                <a:solidFill>
                  <a:srgbClr val="1E293B"/>
                </a:solidFill>
                <a:latin typeface="DM Sans"/>
                <a:ea typeface="DM Sans"/>
                <a:cs typeface="DM Sans"/>
                <a:sym typeface="DM Sans"/>
              </a:rPr>
              <a:t>Output:</a:t>
            </a:r>
            <a:r>
              <a:rPr lang="en-US" sz="1350" b="0" i="0" u="none" strike="noStrike" cap="none" dirty="0">
                <a:solidFill>
                  <a:srgbClr val="1E293B"/>
                </a:solidFill>
                <a:latin typeface="DM Sans"/>
                <a:ea typeface="DM Sans"/>
                <a:cs typeface="DM Sans"/>
                <a:sym typeface="DM Sans"/>
              </a:rPr>
              <a:t> printf is used to format and display the final "ORDER SUMMARY" in a clean, readable format.</a:t>
            </a:r>
            <a:endParaRPr dirty="0"/>
          </a:p>
        </p:txBody>
      </p:sp>
      <p:pic>
        <p:nvPicPr>
          <p:cNvPr id="215" name="Google Shape;215;p22" descr="image.png"/>
          <p:cNvPicPr preferRelativeResize="0"/>
          <p:nvPr/>
        </p:nvPicPr>
        <p:blipFill rotWithShape="1">
          <a:blip r:embed="rId4">
            <a:alphaModFix/>
          </a:blip>
          <a:srcRect/>
          <a:stretch/>
        </p:blipFill>
        <p:spPr>
          <a:xfrm>
            <a:off x="6353175" y="1733550"/>
            <a:ext cx="5248275" cy="4248150"/>
          </a:xfrm>
          <a:prstGeom prst="rect">
            <a:avLst/>
          </a:prstGeom>
          <a:noFill/>
          <a:ln>
            <a:noFill/>
          </a:ln>
        </p:spPr>
      </p:pic>
      <p:sp>
        <p:nvSpPr>
          <p:cNvPr id="216" name="Google Shape;216;p22"/>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05088"/>
                </a:solidFill>
                <a:latin typeface="Merriweather"/>
                <a:ea typeface="Merriweather"/>
                <a:cs typeface="Merriweather"/>
                <a:sym typeface="Merriweather"/>
              </a:rPr>
              <a:t>Code Explanation: Key Concepts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96"/>
        <p:cNvGrpSpPr/>
        <p:nvPr/>
      </p:nvGrpSpPr>
      <p:grpSpPr>
        <a:xfrm>
          <a:off x="0" y="0"/>
          <a:ext cx="0" cy="0"/>
          <a:chOff x="0" y="0"/>
          <a:chExt cx="0" cy="0"/>
        </a:xfrm>
      </p:grpSpPr>
      <p:sp>
        <p:nvSpPr>
          <p:cNvPr id="2" name="Title 1">
            <a:extLst>
              <a:ext uri="{FF2B5EF4-FFF2-40B4-BE49-F238E27FC236}">
                <a16:creationId xmlns:a16="http://schemas.microsoft.com/office/drawing/2014/main" id="{58003146-D865-484C-AC42-7F8CA9BA7CAC}"/>
              </a:ext>
            </a:extLst>
          </p:cNvPr>
          <p:cNvSpPr>
            <a:spLocks noGrp="1"/>
          </p:cNvSpPr>
          <p:nvPr>
            <p:ph type="title"/>
          </p:nvPr>
        </p:nvSpPr>
        <p:spPr>
          <a:xfrm>
            <a:off x="457199" y="274638"/>
            <a:ext cx="11090953" cy="1143000"/>
          </a:xfrm>
        </p:spPr>
        <p:txBody>
          <a:bodyPr>
            <a:normAutofit/>
          </a:bodyPr>
          <a:lstStyle/>
          <a:p>
            <a:pPr algn="l"/>
            <a:r>
              <a:rPr lang="en-US" sz="3000" b="1" dirty="0">
                <a:solidFill>
                  <a:schemeClr val="accent1">
                    <a:lumMod val="75000"/>
                  </a:schemeClr>
                </a:solidFill>
                <a:latin typeface="Merriweather" panose="00000500000000000000" pitchFamily="2" charset="0"/>
              </a:rPr>
              <a:t>Errors Encountered: Key C Implementation Challenges</a:t>
            </a:r>
          </a:p>
        </p:txBody>
      </p:sp>
      <p:sp>
        <p:nvSpPr>
          <p:cNvPr id="3" name="Text Placeholder 2">
            <a:extLst>
              <a:ext uri="{FF2B5EF4-FFF2-40B4-BE49-F238E27FC236}">
                <a16:creationId xmlns:a16="http://schemas.microsoft.com/office/drawing/2014/main" id="{6E499C12-8F1B-4533-8D30-8C7BDC65C7C6}"/>
              </a:ext>
            </a:extLst>
          </p:cNvPr>
          <p:cNvSpPr>
            <a:spLocks noGrp="1"/>
          </p:cNvSpPr>
          <p:nvPr>
            <p:ph type="body" idx="1"/>
          </p:nvPr>
        </p:nvSpPr>
        <p:spPr>
          <a:xfrm>
            <a:off x="457200" y="1600200"/>
            <a:ext cx="5286054" cy="4983162"/>
          </a:xfrm>
        </p:spPr>
        <p:txBody>
          <a:bodyPr>
            <a:normAutofit/>
          </a:bodyPr>
          <a:lstStyle/>
          <a:p>
            <a:pPr marL="114300" indent="0" algn="l">
              <a:buNone/>
            </a:pPr>
            <a:r>
              <a:rPr lang="en-US" b="1" i="0" dirty="0">
                <a:solidFill>
                  <a:schemeClr val="accent1">
                    <a:lumMod val="75000"/>
                  </a:schemeClr>
                </a:solidFill>
                <a:effectLst/>
                <a:latin typeface="Merriweather" panose="00000500000000000000" pitchFamily="2" charset="0"/>
              </a:rPr>
              <a:t>1. Off-by-One Array Access </a:t>
            </a:r>
          </a:p>
          <a:p>
            <a:pPr marL="114300" indent="0">
              <a:buNone/>
            </a:pPr>
            <a:r>
              <a:rPr lang="en-US" sz="1600" b="1" i="0" dirty="0">
                <a:solidFill>
                  <a:schemeClr val="accent1">
                    <a:lumMod val="75000"/>
                  </a:schemeClr>
                </a:solidFill>
                <a:effectLst/>
                <a:latin typeface="DM Sans" panose="020B0604020202020204" charset="0"/>
              </a:rPr>
              <a:t>Problem:</a:t>
            </a:r>
            <a:r>
              <a:rPr lang="en-US" sz="1600" b="0" i="0" dirty="0">
                <a:solidFill>
                  <a:schemeClr val="accent1">
                    <a:lumMod val="75000"/>
                  </a:schemeClr>
                </a:solidFill>
                <a:effectLst/>
                <a:latin typeface="DM Sans" panose="020B0604020202020204" charset="0"/>
              </a:rPr>
              <a:t> C arrays start at </a:t>
            </a:r>
            <a:r>
              <a:rPr lang="en-US" sz="1600" b="1" i="0" dirty="0">
                <a:solidFill>
                  <a:schemeClr val="accent1">
                    <a:lumMod val="75000"/>
                  </a:schemeClr>
                </a:solidFill>
                <a:effectLst/>
                <a:latin typeface="DM Sans" panose="020B0604020202020204" charset="0"/>
              </a:rPr>
              <a:t>index 0</a:t>
            </a:r>
            <a:r>
              <a:rPr lang="en-US" sz="1600" b="0" i="0" dirty="0">
                <a:solidFill>
                  <a:schemeClr val="accent1">
                    <a:lumMod val="75000"/>
                  </a:schemeClr>
                </a:solidFill>
                <a:effectLst/>
                <a:latin typeface="DM Sans" panose="020B0604020202020204" charset="0"/>
              </a:rPr>
              <a:t>, but our user-facing menu needed to start at </a:t>
            </a:r>
            <a:r>
              <a:rPr lang="en-US" sz="1600" b="1" i="0" dirty="0">
                <a:solidFill>
                  <a:schemeClr val="accent1">
                    <a:lumMod val="75000"/>
                  </a:schemeClr>
                </a:solidFill>
                <a:effectLst/>
                <a:latin typeface="DM Sans" panose="020B0604020202020204" charset="0"/>
              </a:rPr>
              <a:t>choice 1</a:t>
            </a:r>
            <a:r>
              <a:rPr lang="en-US" sz="1600" b="0" i="0" dirty="0">
                <a:solidFill>
                  <a:schemeClr val="accent1">
                    <a:lumMod val="75000"/>
                  </a:schemeClr>
                </a:solidFill>
                <a:effectLst/>
                <a:latin typeface="DM Sans" panose="020B0604020202020204" charset="0"/>
              </a:rPr>
              <a:t>.</a:t>
            </a:r>
          </a:p>
          <a:p>
            <a:pPr marL="114300" indent="0">
              <a:buNone/>
            </a:pPr>
            <a:r>
              <a:rPr lang="en-US" sz="1600" b="1" i="0" dirty="0">
                <a:solidFill>
                  <a:schemeClr val="accent1">
                    <a:lumMod val="75000"/>
                  </a:schemeClr>
                </a:solidFill>
                <a:effectLst/>
                <a:latin typeface="DM Sans" panose="020B0604020202020204" charset="0"/>
              </a:rPr>
              <a:t>Mistake:</a:t>
            </a:r>
            <a:r>
              <a:rPr lang="en-US" sz="1600" b="0" i="0" dirty="0">
                <a:solidFill>
                  <a:schemeClr val="accent1">
                    <a:lumMod val="75000"/>
                  </a:schemeClr>
                </a:solidFill>
                <a:effectLst/>
                <a:latin typeface="DM Sans" panose="020B0604020202020204" charset="0"/>
              </a:rPr>
              <a:t> Our initial code tried to access the array directly with the user's choice, like `drinkPrices[choice]`.</a:t>
            </a:r>
          </a:p>
          <a:p>
            <a:pPr marL="114300" indent="0">
              <a:buNone/>
            </a:pPr>
            <a:r>
              <a:rPr lang="en-US" sz="1600" b="1" i="0" dirty="0">
                <a:solidFill>
                  <a:schemeClr val="accent1">
                    <a:lumMod val="75000"/>
                  </a:schemeClr>
                </a:solidFill>
                <a:effectLst/>
                <a:latin typeface="DM Sans" panose="020B0604020202020204" charset="0"/>
              </a:rPr>
              <a:t>Consequence:</a:t>
            </a:r>
            <a:r>
              <a:rPr lang="en-US" sz="1600" b="0" i="0" dirty="0">
                <a:solidFill>
                  <a:schemeClr val="accent1">
                    <a:lumMod val="75000"/>
                  </a:schemeClr>
                </a:solidFill>
                <a:effectLst/>
                <a:latin typeface="DM Sans" panose="020B0604020202020204" charset="0"/>
              </a:rPr>
              <a:t> This led to **Program Crashes** (Segmentation Fault) or reading garbage memory when a user selected the last item.</a:t>
            </a:r>
          </a:p>
          <a:p>
            <a:pPr marL="114300" indent="0">
              <a:buNone/>
            </a:pPr>
            <a:r>
              <a:rPr lang="en-US" sz="1600" b="1" i="0" dirty="0">
                <a:solidFill>
                  <a:schemeClr val="accent1">
                    <a:lumMod val="75000"/>
                  </a:schemeClr>
                </a:solidFill>
                <a:effectLst/>
                <a:latin typeface="DM Sans" panose="020B0604020202020204" charset="0"/>
              </a:rPr>
              <a:t>The Fix:</a:t>
            </a:r>
            <a:r>
              <a:rPr lang="en-US" sz="1600" b="0" i="0" dirty="0">
                <a:solidFill>
                  <a:schemeClr val="accent1">
                    <a:lumMod val="75000"/>
                  </a:schemeClr>
                </a:solidFill>
                <a:effectLst/>
                <a:latin typeface="DM Sans" panose="020B0604020202020204" charset="0"/>
              </a:rPr>
              <a:t> We enforced a consistent rule to always access arrays using </a:t>
            </a:r>
            <a:r>
              <a:rPr lang="en-US" sz="1600" b="1" i="0" dirty="0">
                <a:solidFill>
                  <a:schemeClr val="accent1">
                    <a:lumMod val="75000"/>
                  </a:schemeClr>
                </a:solidFill>
                <a:effectLst/>
                <a:latin typeface="DM Sans" panose="020B0604020202020204" charset="0"/>
              </a:rPr>
              <a:t>`[choice - 1]`</a:t>
            </a:r>
            <a:r>
              <a:rPr lang="en-US" sz="1600" b="0" i="0" dirty="0">
                <a:solidFill>
                  <a:schemeClr val="accent1">
                    <a:lumMod val="75000"/>
                  </a:schemeClr>
                </a:solidFill>
                <a:effectLst/>
                <a:latin typeface="DM Sans" panose="020B0604020202020204" charset="0"/>
              </a:rPr>
              <a:t> to map the user's input to the correct index.</a:t>
            </a:r>
          </a:p>
          <a:p>
            <a:pPr marL="114300" indent="0">
              <a:buNone/>
            </a:pPr>
            <a:endParaRPr lang="en-US" dirty="0"/>
          </a:p>
        </p:txBody>
      </p:sp>
      <p:sp>
        <p:nvSpPr>
          <p:cNvPr id="6" name="TextBox 5">
            <a:extLst>
              <a:ext uri="{FF2B5EF4-FFF2-40B4-BE49-F238E27FC236}">
                <a16:creationId xmlns:a16="http://schemas.microsoft.com/office/drawing/2014/main" id="{F30128C9-7FEA-40D6-8402-582A308C02A7}"/>
              </a:ext>
            </a:extLst>
          </p:cNvPr>
          <p:cNvSpPr txBox="1"/>
          <p:nvPr/>
        </p:nvSpPr>
        <p:spPr>
          <a:xfrm>
            <a:off x="5938463" y="1797978"/>
            <a:ext cx="5712431" cy="4093428"/>
          </a:xfrm>
          <a:prstGeom prst="rect">
            <a:avLst/>
          </a:prstGeom>
          <a:noFill/>
        </p:spPr>
        <p:txBody>
          <a:bodyPr wrap="square" rtlCol="0">
            <a:spAutoFit/>
          </a:bodyPr>
          <a:lstStyle/>
          <a:p>
            <a:pPr algn="l"/>
            <a:r>
              <a:rPr lang="en-US" sz="3200" b="1" i="0" dirty="0">
                <a:solidFill>
                  <a:schemeClr val="accent1">
                    <a:lumMod val="75000"/>
                  </a:schemeClr>
                </a:solidFill>
                <a:effectLst/>
                <a:latin typeface="Merriweather" panose="00000500000000000000" pitchFamily="2" charset="0"/>
              </a:rPr>
              <a:t>2. Logical vs. Bitwise Operators </a:t>
            </a:r>
          </a:p>
          <a:p>
            <a:pPr algn="l"/>
            <a:r>
              <a:rPr lang="en-US" sz="1600" b="1" i="0" dirty="0">
                <a:solidFill>
                  <a:schemeClr val="accent1">
                    <a:lumMod val="75000"/>
                  </a:schemeClr>
                </a:solidFill>
                <a:effectLst/>
                <a:latin typeface="DM Sans" panose="020B0604020202020204" charset="0"/>
              </a:rPr>
              <a:t>Problem:</a:t>
            </a:r>
            <a:r>
              <a:rPr lang="en-US" sz="1600" b="0" i="0" dirty="0">
                <a:solidFill>
                  <a:schemeClr val="accent1">
                    <a:lumMod val="75000"/>
                  </a:schemeClr>
                </a:solidFill>
                <a:effectLst/>
                <a:latin typeface="DM Sans" panose="020B0604020202020204" charset="0"/>
              </a:rPr>
              <a:t> We needed to validate if a user's input was outside the allowed range (e.g., less than 1 OR greater than 4).</a:t>
            </a:r>
          </a:p>
          <a:p>
            <a:pPr algn="l"/>
            <a:r>
              <a:rPr lang="en-US" sz="1600" b="1" i="0" dirty="0">
                <a:solidFill>
                  <a:schemeClr val="accent1">
                    <a:lumMod val="75000"/>
                  </a:schemeClr>
                </a:solidFill>
                <a:effectLst/>
                <a:latin typeface="DM Sans" panose="020B0604020202020204" charset="0"/>
              </a:rPr>
              <a:t>Mistake:</a:t>
            </a:r>
            <a:r>
              <a:rPr lang="en-US" sz="1600" b="0" i="0" dirty="0">
                <a:solidFill>
                  <a:schemeClr val="accent1">
                    <a:lumMod val="75000"/>
                  </a:schemeClr>
                </a:solidFill>
                <a:effectLst/>
                <a:latin typeface="DM Sans" panose="020B0604020202020204" charset="0"/>
              </a:rPr>
              <a:t> We accidentally used the **Bitwise OR (`|`)** operator instead of the **Logical OR (`||`)** </a:t>
            </a:r>
            <a:r>
              <a:rPr lang="en-US" sz="1600" b="0" i="0" dirty="0">
                <a:solidFill>
                  <a:srgbClr val="F3F0DF"/>
                </a:solidFill>
                <a:effectLst/>
                <a:latin typeface="DM Sans" panose="020B0604020202020204" charset="0"/>
              </a:rPr>
              <a:t>o</a:t>
            </a:r>
          </a:p>
          <a:p>
            <a:pPr algn="l"/>
            <a:r>
              <a:rPr lang="en-US" sz="1600" b="1" i="0" dirty="0">
                <a:solidFill>
                  <a:schemeClr val="accent1">
                    <a:lumMod val="75000"/>
                  </a:schemeClr>
                </a:solidFill>
                <a:effectLst/>
                <a:latin typeface="DM Sans" panose="020B0604020202020204" charset="0"/>
              </a:rPr>
              <a:t>Consequence:</a:t>
            </a:r>
            <a:r>
              <a:rPr lang="en-US" sz="1600" b="0" i="0" dirty="0">
                <a:solidFill>
                  <a:schemeClr val="accent1">
                    <a:lumMod val="75000"/>
                  </a:schemeClr>
                </a:solidFill>
                <a:effectLst/>
                <a:latin typeface="DM Sans" panose="020B0604020202020204" charset="0"/>
              </a:rPr>
              <a:t> This is technically incorrect logic. It doesn't perform "short-circuiting" and could lead to unstable validation.</a:t>
            </a:r>
          </a:p>
          <a:p>
            <a:pPr algn="l"/>
            <a:r>
              <a:rPr lang="en-US" sz="1600" b="1" i="0" dirty="0">
                <a:solidFill>
                  <a:schemeClr val="accent1">
                    <a:lumMod val="75000"/>
                  </a:schemeClr>
                </a:solidFill>
                <a:effectLst/>
                <a:latin typeface="DM Sans" panose="020B0604020202020204" charset="0"/>
              </a:rPr>
              <a:t>The Fix:</a:t>
            </a:r>
            <a:r>
              <a:rPr lang="en-US" sz="1600" b="0" i="0" dirty="0">
                <a:solidFill>
                  <a:schemeClr val="accent1">
                    <a:lumMod val="75000"/>
                  </a:schemeClr>
                </a:solidFill>
                <a:effectLst/>
                <a:latin typeface="DM Sans" panose="020B0604020202020204" charset="0"/>
              </a:rPr>
              <a:t> We corrected all validation logic to use the proper </a:t>
            </a:r>
            <a:r>
              <a:rPr lang="en-US" sz="1600" b="1" i="0" dirty="0">
                <a:solidFill>
                  <a:schemeClr val="accent1">
                    <a:lumMod val="75000"/>
                  </a:schemeClr>
                </a:solidFill>
                <a:effectLst/>
                <a:latin typeface="DM Sans" panose="020B0604020202020204" charset="0"/>
              </a:rPr>
              <a:t>Logical OR (`||`)</a:t>
            </a:r>
            <a:r>
              <a:rPr lang="en-US" sz="1600" b="0" i="0" dirty="0">
                <a:solidFill>
                  <a:schemeClr val="accent1">
                    <a:lumMod val="75000"/>
                  </a:schemeClr>
                </a:solidFill>
                <a:effectLst/>
                <a:latin typeface="DM Sans" panose="020B0604020202020204" charset="0"/>
              </a:rPr>
              <a:t> operator for all boolean checks.</a:t>
            </a:r>
          </a:p>
          <a:p>
            <a:pPr algn="l"/>
            <a:endParaRPr lang="en-US" sz="1600" b="0" i="0" dirty="0">
              <a:solidFill>
                <a:schemeClr val="accent1">
                  <a:lumMod val="75000"/>
                </a:schemeClr>
              </a:solidFill>
              <a:effectLst/>
              <a:latin typeface="DM Sans" panose="020B0604020202020204" charset="0"/>
            </a:endParaRPr>
          </a:p>
          <a:p>
            <a:pPr algn="l"/>
            <a:r>
              <a:rPr lang="en-US" sz="800" dirty="0">
                <a:solidFill>
                  <a:schemeClr val="accent1">
                    <a:lumMod val="75000"/>
                  </a:schemeClr>
                </a:solidFill>
              </a:rPr>
              <a:t/>
            </a:r>
            <a:br>
              <a:rPr lang="en-US" sz="800" dirty="0">
                <a:solidFill>
                  <a:schemeClr val="accent1">
                    <a:lumMod val="75000"/>
                  </a:schemeClr>
                </a:solidFill>
              </a:rPr>
            </a:br>
            <a:endParaRPr lang="en-US" sz="800" dirty="0">
              <a:solidFill>
                <a:schemeClr val="accent1">
                  <a:lumMod val="75000"/>
                </a:schemeClr>
              </a:solidFill>
            </a:endParaRPr>
          </a:p>
        </p:txBody>
      </p:sp>
    </p:spTree>
    <p:extLst>
      <p:ext uri="{BB962C8B-B14F-4D97-AF65-F5344CB8AC3E}">
        <p14:creationId xmlns:p14="http://schemas.microsoft.com/office/powerpoint/2010/main" val="3549273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220"/>
        <p:cNvGrpSpPr/>
        <p:nvPr/>
      </p:nvGrpSpPr>
      <p:grpSpPr>
        <a:xfrm>
          <a:off x="0" y="0"/>
          <a:ext cx="0" cy="0"/>
          <a:chOff x="0" y="0"/>
          <a:chExt cx="0" cy="0"/>
        </a:xfrm>
      </p:grpSpPr>
      <p:pic>
        <p:nvPicPr>
          <p:cNvPr id="221" name="Google Shape;221;p23" descr="image.png"/>
          <p:cNvPicPr preferRelativeResize="0"/>
          <p:nvPr/>
        </p:nvPicPr>
        <p:blipFill rotWithShape="1">
          <a:blip r:embed="rId3">
            <a:alphaModFix/>
          </a:blip>
          <a:srcRect/>
          <a:stretch/>
        </p:blipFill>
        <p:spPr>
          <a:xfrm>
            <a:off x="571500" y="2257425"/>
            <a:ext cx="3429000" cy="3200400"/>
          </a:xfrm>
          <a:prstGeom prst="rect">
            <a:avLst/>
          </a:prstGeom>
          <a:noFill/>
          <a:ln>
            <a:noFill/>
          </a:ln>
        </p:spPr>
      </p:pic>
      <p:pic>
        <p:nvPicPr>
          <p:cNvPr id="222" name="Google Shape;222;p23" descr="image.png"/>
          <p:cNvPicPr preferRelativeResize="0"/>
          <p:nvPr/>
        </p:nvPicPr>
        <p:blipFill rotWithShape="1">
          <a:blip r:embed="rId4">
            <a:alphaModFix/>
          </a:blip>
          <a:srcRect/>
          <a:stretch/>
        </p:blipFill>
        <p:spPr>
          <a:xfrm>
            <a:off x="4381500" y="2257425"/>
            <a:ext cx="3429000" cy="3200400"/>
          </a:xfrm>
          <a:prstGeom prst="rect">
            <a:avLst/>
          </a:prstGeom>
          <a:noFill/>
          <a:ln>
            <a:noFill/>
          </a:ln>
        </p:spPr>
      </p:pic>
      <p:pic>
        <p:nvPicPr>
          <p:cNvPr id="223" name="Google Shape;223;p23" descr="image.png"/>
          <p:cNvPicPr preferRelativeResize="0"/>
          <p:nvPr/>
        </p:nvPicPr>
        <p:blipFill rotWithShape="1">
          <a:blip r:embed="rId5">
            <a:alphaModFix/>
          </a:blip>
          <a:srcRect/>
          <a:stretch/>
        </p:blipFill>
        <p:spPr>
          <a:xfrm>
            <a:off x="8191500" y="2257425"/>
            <a:ext cx="3429000" cy="3200400"/>
          </a:xfrm>
          <a:prstGeom prst="rect">
            <a:avLst/>
          </a:prstGeom>
          <a:noFill/>
          <a:ln>
            <a:noFill/>
          </a:ln>
        </p:spPr>
      </p:pic>
      <p:sp>
        <p:nvSpPr>
          <p:cNvPr id="224" name="Google Shape;224;p23"/>
          <p:cNvSpPr txBox="1"/>
          <p:nvPr/>
        </p:nvSpPr>
        <p:spPr>
          <a:xfrm>
            <a:off x="1330880" y="3267075"/>
            <a:ext cx="1910238"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3F0DF"/>
                </a:solidFill>
                <a:latin typeface="Merriweather"/>
                <a:ea typeface="Merriweather"/>
                <a:cs typeface="Merriweather"/>
                <a:sym typeface="Merriweather"/>
              </a:rPr>
              <a:t>Multi-Order</a:t>
            </a:r>
            <a:endParaRPr/>
          </a:p>
        </p:txBody>
      </p:sp>
      <p:sp>
        <p:nvSpPr>
          <p:cNvPr id="225" name="Google Shape;225;p23"/>
          <p:cNvSpPr txBox="1"/>
          <p:nvPr/>
        </p:nvSpPr>
        <p:spPr>
          <a:xfrm>
            <a:off x="866775" y="3962400"/>
            <a:ext cx="2838450"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Implement functionality to handle multiple orders simultaneously for different customers.</a:t>
            </a:r>
            <a:endParaRPr/>
          </a:p>
        </p:txBody>
      </p:sp>
      <p:sp>
        <p:nvSpPr>
          <p:cNvPr id="226" name="Google Shape;226;p23"/>
          <p:cNvSpPr txBox="1"/>
          <p:nvPr/>
        </p:nvSpPr>
        <p:spPr>
          <a:xfrm>
            <a:off x="5370909" y="3267075"/>
            <a:ext cx="1450181"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3F0DF"/>
                </a:solidFill>
                <a:latin typeface="Merriweather"/>
                <a:ea typeface="Merriweather"/>
                <a:cs typeface="Merriweather"/>
                <a:sym typeface="Merriweather"/>
              </a:rPr>
              <a:t>Database</a:t>
            </a:r>
            <a:endParaRPr/>
          </a:p>
        </p:txBody>
      </p:sp>
      <p:sp>
        <p:nvSpPr>
          <p:cNvPr id="227" name="Google Shape;227;p23"/>
          <p:cNvSpPr txBox="1"/>
          <p:nvPr/>
        </p:nvSpPr>
        <p:spPr>
          <a:xfrm>
            <a:off x="4676775" y="3962400"/>
            <a:ext cx="2838450" cy="10287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Connect the system to a database (MySQL or SQLite) to store daily orders, total sales, and order history.</a:t>
            </a:r>
            <a:endParaRPr/>
          </a:p>
        </p:txBody>
      </p:sp>
      <p:sp>
        <p:nvSpPr>
          <p:cNvPr id="228" name="Google Shape;228;p23"/>
          <p:cNvSpPr txBox="1"/>
          <p:nvPr/>
        </p:nvSpPr>
        <p:spPr>
          <a:xfrm>
            <a:off x="8805862" y="3267075"/>
            <a:ext cx="2200275" cy="38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F3F0DF"/>
                </a:solidFill>
                <a:latin typeface="Merriweather"/>
                <a:ea typeface="Merriweather"/>
                <a:cs typeface="Merriweather"/>
                <a:sym typeface="Merriweather"/>
              </a:rPr>
              <a:t>New Interface</a:t>
            </a:r>
            <a:endParaRPr/>
          </a:p>
        </p:txBody>
      </p:sp>
      <p:sp>
        <p:nvSpPr>
          <p:cNvPr id="229" name="Google Shape;229;p23"/>
          <p:cNvSpPr txBox="1"/>
          <p:nvPr/>
        </p:nvSpPr>
        <p:spPr>
          <a:xfrm>
            <a:off x="8486775" y="3962400"/>
            <a:ext cx="2838450" cy="10287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F3F0DF"/>
                </a:solidFill>
                <a:latin typeface="DM Sans"/>
                <a:ea typeface="DM Sans"/>
                <a:cs typeface="DM Sans"/>
                <a:sym typeface="DM Sans"/>
              </a:rPr>
              <a:t>Transform the console program into an interactive website (HTML/CSS) or add file handling for saving receipts.</a:t>
            </a:r>
            <a:endParaRPr/>
          </a:p>
        </p:txBody>
      </p:sp>
      <p:pic>
        <p:nvPicPr>
          <p:cNvPr id="230" name="Google Shape;230;p23" descr="image.png"/>
          <p:cNvPicPr preferRelativeResize="0"/>
          <p:nvPr/>
        </p:nvPicPr>
        <p:blipFill rotWithShape="1">
          <a:blip r:embed="rId6">
            <a:alphaModFix/>
          </a:blip>
          <a:srcRect/>
          <a:stretch/>
        </p:blipFill>
        <p:spPr>
          <a:xfrm>
            <a:off x="2000250" y="2571750"/>
            <a:ext cx="571500" cy="457200"/>
          </a:xfrm>
          <a:prstGeom prst="rect">
            <a:avLst/>
          </a:prstGeom>
          <a:noFill/>
          <a:ln>
            <a:noFill/>
          </a:ln>
        </p:spPr>
      </p:pic>
      <p:pic>
        <p:nvPicPr>
          <p:cNvPr id="231" name="Google Shape;231;p23" descr="image.png"/>
          <p:cNvPicPr preferRelativeResize="0"/>
          <p:nvPr/>
        </p:nvPicPr>
        <p:blipFill rotWithShape="1">
          <a:blip r:embed="rId7">
            <a:alphaModFix/>
          </a:blip>
          <a:srcRect/>
          <a:stretch/>
        </p:blipFill>
        <p:spPr>
          <a:xfrm>
            <a:off x="5895975" y="2571750"/>
            <a:ext cx="400050" cy="457200"/>
          </a:xfrm>
          <a:prstGeom prst="rect">
            <a:avLst/>
          </a:prstGeom>
          <a:noFill/>
          <a:ln>
            <a:noFill/>
          </a:ln>
        </p:spPr>
      </p:pic>
      <p:pic>
        <p:nvPicPr>
          <p:cNvPr id="232" name="Google Shape;232;p23" descr="image.png"/>
          <p:cNvPicPr preferRelativeResize="0"/>
          <p:nvPr/>
        </p:nvPicPr>
        <p:blipFill rotWithShape="1">
          <a:blip r:embed="rId8">
            <a:alphaModFix/>
          </a:blip>
          <a:srcRect/>
          <a:stretch/>
        </p:blipFill>
        <p:spPr>
          <a:xfrm>
            <a:off x="9648825" y="2571750"/>
            <a:ext cx="514350" cy="457200"/>
          </a:xfrm>
          <a:prstGeom prst="rect">
            <a:avLst/>
          </a:prstGeom>
          <a:noFill/>
          <a:ln>
            <a:noFill/>
          </a:ln>
        </p:spPr>
      </p:pic>
      <p:sp>
        <p:nvSpPr>
          <p:cNvPr id="233" name="Google Shape;233;p23"/>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chemeClr val="accent1">
                    <a:lumMod val="75000"/>
                  </a:schemeClr>
                </a:solidFill>
                <a:latin typeface="Merriweather"/>
                <a:ea typeface="Merriweather"/>
                <a:cs typeface="Merriweather"/>
                <a:sym typeface="Merriweather"/>
              </a:rPr>
              <a:t>Future Enhancements</a:t>
            </a:r>
            <a:endParaRPr dirty="0">
              <a:solidFill>
                <a:schemeClr val="accent1">
                  <a:lumMod val="75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237"/>
        <p:cNvGrpSpPr/>
        <p:nvPr/>
      </p:nvGrpSpPr>
      <p:grpSpPr>
        <a:xfrm>
          <a:off x="0" y="0"/>
          <a:ext cx="0" cy="0"/>
          <a:chOff x="0" y="0"/>
          <a:chExt cx="0" cy="0"/>
        </a:xfrm>
      </p:grpSpPr>
      <p:sp>
        <p:nvSpPr>
          <p:cNvPr id="238" name="Google Shape;238;p24"/>
          <p:cNvSpPr txBox="1"/>
          <p:nvPr/>
        </p:nvSpPr>
        <p:spPr>
          <a:xfrm>
            <a:off x="295275" y="1266825"/>
            <a:ext cx="11601450" cy="962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005088"/>
                </a:solidFill>
                <a:latin typeface="Merriweather"/>
                <a:ea typeface="Merriweather"/>
                <a:cs typeface="Merriweather"/>
                <a:sym typeface="Merriweather"/>
              </a:rPr>
              <a:t>Conclusion</a:t>
            </a:r>
            <a:endParaRPr/>
          </a:p>
        </p:txBody>
      </p:sp>
      <p:sp>
        <p:nvSpPr>
          <p:cNvPr id="239" name="Google Shape;239;p24"/>
          <p:cNvSpPr txBox="1"/>
          <p:nvPr/>
        </p:nvSpPr>
        <p:spPr>
          <a:xfrm>
            <a:off x="2286000" y="2486025"/>
            <a:ext cx="7620000" cy="18859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dirty="0">
                <a:solidFill>
                  <a:srgbClr val="1E293B"/>
                </a:solidFill>
                <a:latin typeface="DM Sans"/>
                <a:ea typeface="DM Sans"/>
                <a:cs typeface="DM Sans"/>
                <a:sym typeface="DM Sans"/>
              </a:rPr>
              <a:t>The Cafe Billing System project successfully demonstrates the use of arrays, switch statements, and arithmetic operations to automate billing. It simplifies manual tasks, ensures accurate price computation, and reinforces basic concepts of user interaction and modular code design. This project serves as a foundational step toward developing more advanced and feature-rich commercial applications.</a:t>
            </a:r>
            <a:endParaRPr dirty="0"/>
          </a:p>
        </p:txBody>
      </p:sp>
      <p:sp>
        <p:nvSpPr>
          <p:cNvPr id="240" name="Google Shape;240;p24"/>
          <p:cNvSpPr txBox="1"/>
          <p:nvPr/>
        </p:nvSpPr>
        <p:spPr>
          <a:xfrm>
            <a:off x="295275" y="5148637"/>
            <a:ext cx="11601450" cy="714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dirty="0">
                <a:solidFill>
                  <a:srgbClr val="005088"/>
                </a:solidFill>
                <a:latin typeface="Merriweather"/>
                <a:ea typeface="Merriweather"/>
                <a:cs typeface="Merriweather"/>
                <a:sym typeface="Merriweather"/>
              </a:rPr>
              <a:t>Thank You</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792</Words>
  <Application>Microsoft Office PowerPoint</Application>
  <PresentationFormat>Widescreen</PresentationFormat>
  <Paragraphs>96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Merriweather</vt:lpstr>
      <vt:lpstr>Calibri</vt:lpstr>
      <vt:lpstr>DM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Errors Encountered: Key C Implementation Challenges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dell</cp:lastModifiedBy>
  <cp:revision>3</cp:revision>
  <dcterms:modified xsi:type="dcterms:W3CDTF">2025-11-13T18:04:37Z</dcterms:modified>
</cp:coreProperties>
</file>